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6B82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5A6B82"/>
                </a:solidFill>
                <a:latin typeface="Calibri"/>
              </a:rPr>
              <a:t>Mean Score Out of 100 (n = 1,000)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spPr>
            <a:solidFill>
              <a:srgbClr val="1E2A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059-415D-94C5-9BF6FFFB77F7}"/>
              </c:ext>
            </c:extLst>
          </c:dPt>
          <c:dPt>
            <c:idx val="1"/>
            <c:invertIfNegative val="0"/>
            <c:bubble3D val="0"/>
            <c:spPr>
              <a:solidFill>
                <a:srgbClr val="3E7C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59-415D-94C5-9BF6FFFB77F7}"/>
              </c:ext>
            </c:extLst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59-415D-94C5-9BF6FFFB77F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A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Math</c:v>
                </c:pt>
                <c:pt idx="1">
                  <c:v>Reading</c:v>
                </c:pt>
                <c:pt idx="2">
                  <c:v>Writing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66.09</c:v>
                </c:pt>
                <c:pt idx="1">
                  <c:v>69.17</c:v>
                </c:pt>
                <c:pt idx="2">
                  <c:v>68.05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059-415D-94C5-9BF6FFFB77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6B82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5A6B82"/>
                </a:solidFill>
                <a:latin typeface="Calibri"/>
              </a:rPr>
              <a:t>Average Score by Test Prep Status (n = 1,000)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spPr>
            <a:solidFill>
              <a:srgbClr val="5A6B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4E9-4683-A98B-D18099B2FEC0}"/>
              </c:ext>
            </c:extLst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4E9-4683-A98B-D18099B2FEC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E2A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Test Prep</c:v>
                </c:pt>
                <c:pt idx="1">
                  <c:v>Completed Test Prep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65.040000000000006</c:v>
                </c:pt>
                <c:pt idx="1">
                  <c:v>72.67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4E9-4683-A98B-D18099B2FE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5A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6B82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5A6B82"/>
                </a:solidFill>
                <a:latin typeface="Calibri"/>
              </a:rPr>
              <a:t>Average Score by Lunch Program Type (n = 1,000)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spPr>
            <a:solidFill>
              <a:srgbClr val="C6564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C2F-497D-B955-067933A8A231}"/>
              </c:ext>
            </c:extLst>
          </c:dPt>
          <c:dPt>
            <c:idx val="1"/>
            <c:invertIfNegative val="0"/>
            <c:bubble3D val="0"/>
            <c:spPr>
              <a:solidFill>
                <a:srgbClr val="3E7C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C2F-497D-B955-067933A8A23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E2A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Free/Reduced Lunch</c:v>
                </c:pt>
                <c:pt idx="1">
                  <c:v>Standard Lunch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62.2</c:v>
                </c:pt>
                <c:pt idx="1">
                  <c:v>70.84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C2F-497D-B955-067933A8A2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5A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6B82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5A6B82"/>
                </a:solidFill>
                <a:latin typeface="Calibri"/>
              </a:rPr>
              <a:t>Average Score by Gender and Subject (n = 1,000)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A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Math</c:v>
                </c:pt>
                <c:pt idx="1">
                  <c:v>Reading</c:v>
                </c:pt>
                <c:pt idx="2">
                  <c:v>Writing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63.63</c:v>
                </c:pt>
                <c:pt idx="1">
                  <c:v>72.61</c:v>
                </c:pt>
                <c:pt idx="2">
                  <c:v>72.47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FE-4F63-A1DD-FFB737E5B7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1E2A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A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Math</c:v>
                </c:pt>
                <c:pt idx="1">
                  <c:v>Reading</c:v>
                </c:pt>
                <c:pt idx="2">
                  <c:v>Writing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68.73</c:v>
                </c:pt>
                <c:pt idx="1">
                  <c:v>65.47</c:v>
                </c:pt>
                <c:pt idx="2">
                  <c:v>63.31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FE-4F63-A1DD-FFB737E5B7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-1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5A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A6B8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6B82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5A6B82"/>
                </a:solidFill>
                <a:latin typeface="Calibri"/>
              </a:rPr>
              <a:t>Average Score by Parental Level of Education (n = 1,000)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spPr>
            <a:solidFill>
              <a:srgbClr val="3E7C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A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Some High
School</c:v>
                </c:pt>
                <c:pt idx="1">
                  <c:v>High
School</c:v>
                </c:pt>
                <c:pt idx="2">
                  <c:v>Some
College</c:v>
                </c:pt>
                <c:pt idx="3">
                  <c:v>Associate's
Degree</c:v>
                </c:pt>
                <c:pt idx="4">
                  <c:v>Bachelor's
Degree</c:v>
                </c:pt>
                <c:pt idx="5">
                  <c:v>Master's
Degree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65.11</c:v>
                </c:pt>
                <c:pt idx="1">
                  <c:v>63.1</c:v>
                </c:pt>
                <c:pt idx="2">
                  <c:v>68.48</c:v>
                </c:pt>
                <c:pt idx="3">
                  <c:v>69.569999999999993</c:v>
                </c:pt>
                <c:pt idx="4">
                  <c:v>71.92</c:v>
                </c:pt>
                <c:pt idx="5">
                  <c:v>73.599999999999994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DD-4D5B-924F-36ACE87505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6B82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5A6B82"/>
                </a:solidFill>
                <a:latin typeface="Calibri"/>
              </a:rPr>
              <a:t>Number of Students per Performance Band (n = 1,000)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C6564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3B7-4924-8996-4C499B1F8349}"/>
              </c:ext>
            </c:extLst>
          </c:dPt>
          <c:dPt>
            <c:idx val="1"/>
            <c:invertIfNegative val="0"/>
            <c:bubble3D val="0"/>
            <c:spPr>
              <a:solidFill>
                <a:srgbClr val="D68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3B7-4924-8996-4C499B1F8349}"/>
              </c:ext>
            </c:extLst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3B7-4924-8996-4C499B1F8349}"/>
              </c:ext>
            </c:extLst>
          </c:dPt>
          <c:dPt>
            <c:idx val="3"/>
            <c:invertIfNegative val="0"/>
            <c:bubble3D val="0"/>
            <c:spPr>
              <a:solidFill>
                <a:srgbClr val="3E7C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3B7-4924-8996-4C499B1F8349}"/>
              </c:ext>
            </c:extLst>
          </c:dPt>
          <c:dPt>
            <c:idx val="4"/>
            <c:invertIfNegative val="0"/>
            <c:bubble3D val="0"/>
            <c:spPr>
              <a:solidFill>
                <a:srgbClr val="4E8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3B7-4924-8996-4C499B1F834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A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At Risk</c:v>
                </c:pt>
                <c:pt idx="1">
                  <c:v>Below
Average</c:v>
                </c:pt>
                <c:pt idx="2">
                  <c:v>Average</c:v>
                </c:pt>
                <c:pt idx="3">
                  <c:v>Above
Average</c:v>
                </c:pt>
                <c:pt idx="4">
                  <c:v>Excellent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255</c:v>
                </c:pt>
                <c:pt idx="2">
                  <c:v>391</c:v>
                </c:pt>
                <c:pt idx="3">
                  <c:v>272</c:v>
                </c:pt>
                <c:pt idx="4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3B7-4924-8996-4C499B1F83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A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842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E2A4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3E7C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 By Ahmed Saber Data Analyst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Decisions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analysis of 1,000 students — exploring how test preparation, socio-economic factors, and parental education shape exam performance.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Students Performance in Exams (Kaggle)  ·  Python · Pandas · Plotly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6642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99339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students, 8 features, zero missing values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69464"/>
            <a:ext cx="566928" cy="566928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69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542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Landscape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2871216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distributions across math, reading &amp; writing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47288"/>
            <a:ext cx="566928" cy="566928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47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4198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Moves the Needle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374904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prep, socio-economic status &amp; parental education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25112"/>
            <a:ext cx="566928" cy="566928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25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At Risk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62686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and characterizing the highest-need segment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02936"/>
            <a:ext cx="566928" cy="566928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02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1755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17320" y="550468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focus a limited academic-support budget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Clean, Complete Foundation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Analyzed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E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83280" y="3108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E8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217920" y="3108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7830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052560" y="3108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Assessed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audit:  </a:t>
            </a:r>
            <a:r>
              <a:rPr lang="en-US" sz="13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values, no duplicate records, and every score falls within a valid 0–100 range. A small cluster of low-end outliers (near-zero scores) was flagged for review rather than removed — these represent the district's most at-risk students, not data errors.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gender  ·  race/ethnicity  ·  parental level of education  ·  lunch (standard / free-reduced)  ·  test preparation course  ·  math, reading &amp; writing scores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Scores by Subject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492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600200"/>
            <a:ext cx="4343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Snapshot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2286000"/>
          <a:ext cx="3749040" cy="219456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635240" y="47091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shows the widest spread and the lowest floor of the three subjects — the strongest early signal that it needs the most targeted support.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THE NEEDLE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Preparation Pays Off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3093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691640"/>
            <a:ext cx="4434840" cy="1920240"/>
          </a:xfrm>
          <a:prstGeom prst="roundRect">
            <a:avLst>
              <a:gd name="adj" fmla="val 5714"/>
            </a:avLst>
          </a:prstGeom>
          <a:solidFill>
            <a:srgbClr val="1E2A44"/>
          </a:solidFill>
          <a:ln/>
        </p:spPr>
      </p:sp>
      <p:sp>
        <p:nvSpPr>
          <p:cNvPr id="6" name="Text 3"/>
          <p:cNvSpPr/>
          <p:nvPr/>
        </p:nvSpPr>
        <p:spPr>
          <a:xfrm>
            <a:off x="7223760" y="18288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+7.6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589520" y="28803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average score lift for students who completed test prep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223760" y="38862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358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1,000 students (35.8%) completed test prep — the clearest headroom for expansion.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58064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E7EEF5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589788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2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Test-prep completion is the single strongest ACTIONABLE lever in this dataset — a district can directly control who has access to it.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THE NEEDLE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Socio-Economic Gap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3093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691640"/>
            <a:ext cx="4434840" cy="1920240"/>
          </a:xfrm>
          <a:prstGeom prst="roundRect">
            <a:avLst>
              <a:gd name="adj" fmla="val 5714"/>
            </a:avLst>
          </a:prstGeom>
          <a:solidFill>
            <a:srgbClr val="1E2A44"/>
          </a:solidFill>
          <a:ln/>
        </p:spPr>
      </p:sp>
      <p:sp>
        <p:nvSpPr>
          <p:cNvPr id="6" name="Text 3"/>
          <p:cNvSpPr/>
          <p:nvPr/>
        </p:nvSpPr>
        <p:spPr>
          <a:xfrm>
            <a:off x="7223760" y="18288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+8.6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589520" y="28803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gap between standard and free/reduced lunch students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223760" y="38862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355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students (35.5%) are on free/reduced lunch — a standard proxy for lower household income.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58064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E7EEF5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589788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2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type is not directly controllable, but it flags a population that likely needs wraparound support — nutrition, tutoring, and family resources — not just academics alone.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THE NEEDLE ·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Gaps Flip by Subject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108813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064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E7EEF5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89788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2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students lead in math (+5.1 pts); female students lead in reading (+7.1 pts) and writing (+9.2 pts) — support programs should be subject-specific, not one-size-fits-all.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THE NEEDLE ·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Parental Education Gradient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108813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064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E7EEF5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89788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2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rise almost monotonically with parental education — from 63.1 (high school) to 73.6 (master's degree), an 8.5-point range. This isn't a lever schools control, but it flags who needs extra support.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RELATIONSHIPS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Three Subjects Relate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5120640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9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C4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9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C4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617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coefficients across all 1,000 students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0" y="173736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20840" y="19659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Language-Based Cluster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20840" y="2514600"/>
            <a:ext cx="4617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↔ Writing: 0.955 — the strongest pair by far, reflecting two closely related language skills.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↔ Reading: 0.818  |  Math ↔ Writing: 0.803 — still strong, but a visibly more distinct skill domain.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students rarely excel in one subject while badly lagging in others — but math is the one most likely to diverge.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8064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E7EEF5"/>
          </a:solidFill>
          <a:ln/>
        </p:spPr>
      </p:sp>
      <p:sp>
        <p:nvSpPr>
          <p:cNvPr id="4" name="Text 7"/>
          <p:cNvSpPr/>
          <p:nvPr/>
        </p:nvSpPr>
        <p:spPr>
          <a:xfrm>
            <a:off x="777240" y="589788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2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curricula could reasonably be co-taught; math likely needs its own dedicated instructional strategy given its lower correlation with the other two.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AT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Bands Across the Population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4008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691640"/>
            <a:ext cx="4389120" cy="4114800"/>
          </a:xfrm>
          <a:prstGeom prst="roundRect">
            <a:avLst>
              <a:gd name="adj" fmla="val 2667"/>
            </a:avLst>
          </a:prstGeom>
          <a:solidFill>
            <a:srgbClr val="1E2A44"/>
          </a:solidFill>
          <a:ln/>
        </p:spPr>
      </p:sp>
      <p:sp>
        <p:nvSpPr>
          <p:cNvPr id="6" name="Text 3"/>
          <p:cNvSpPr/>
          <p:nvPr/>
        </p:nvSpPr>
        <p:spPr>
          <a:xfrm>
            <a:off x="7269480" y="18745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28.5%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635240" y="2743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(285) fall into the At Risk / Below Average bands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35240" y="3520440"/>
            <a:ext cx="3657600" cy="0"/>
          </a:xfrm>
          <a:prstGeom prst="line">
            <a:avLst/>
          </a:prstGeom>
          <a:noFill/>
          <a:ln w="12700">
            <a:solidFill>
              <a:srgbClr val="3A46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this at-risk group: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352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54.4%  </a:t>
            </a:r>
            <a:r>
              <a:rPr lang="en-US" sz="12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on free/reduced lunch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3524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78.9%  </a:t>
            </a:r>
            <a:r>
              <a:rPr lang="en-US" sz="12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complete test prep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58064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E7EEF5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89788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2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students are NOT spread evenly — they cluster at the intersection of lower socio-economic status and no test-prep access. That intersection is the natural first target for intervention.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 We Learned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00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prep works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40680" y="16002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test prep adds +7.6 points on average — the clearest actionable lever available.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4414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Socio-economic gap is real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40680" y="244144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8.6-point gap exists between standard and free/reduced lunch students.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28269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gaps flip by subject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40680" y="328269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students lead math; female students lead reading &amp; writing.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696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12394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needs its own strategy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40680" y="412394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spread, lowest floor, and the most distinct skill domain of the three.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109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9651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clusters, it doesn't spread evenly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496519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students concentrate where low income meets no test-prep access.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Invest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test-prep access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free/reduced-lunch students first — the clearest, most defensible ROI.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A4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solidFill>
            <a:srgbClr val="3E7C8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78040" y="19202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math-specific tutoring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37960" y="25603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has the lowest scores and widest spread of the three subjects.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A44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2062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subject-aware, gender-aware support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 support skewed toward male students; math-confidence programs skewed toward female students.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A44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251960"/>
            <a:ext cx="457200" cy="457200"/>
          </a:xfrm>
          <a:prstGeom prst="ellipse">
            <a:avLst/>
          </a:prstGeom>
          <a:solidFill>
            <a:srgbClr val="4E8B6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78040" y="42062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live risk-score dashboard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37960" y="48463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performance band, lunch type, and test-prep status to give counselors a prioritized outreach list.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E2A4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657600" cy="3657600"/>
          </a:xfrm>
          <a:prstGeom prst="ellipse">
            <a:avLst/>
          </a:prstGeom>
          <a:solidFill>
            <a:srgbClr val="3E7C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notebook, data quality audit, and code: github.com/&lt;your-username&gt;/student-performance-analytics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1035</Words>
  <Application>Microsoft Office PowerPoint</Application>
  <PresentationFormat>Widescreen</PresentationFormat>
  <Paragraphs>184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Ahmed Saber Abdelshafy</cp:lastModifiedBy>
  <cp:revision>2</cp:revision>
  <dcterms:created xsi:type="dcterms:W3CDTF">2026-07-28T08:52:06Z</dcterms:created>
  <dcterms:modified xsi:type="dcterms:W3CDTF">2026-07-28T08:58:12Z</dcterms:modified>
</cp:coreProperties>
</file>