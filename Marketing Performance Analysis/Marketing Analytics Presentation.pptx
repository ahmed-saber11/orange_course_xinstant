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5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1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Revenue</c:v>
                </c:pt>
              </c:strCache>
            </c:strRef>
          </c:tx>
          <c:spPr>
            <a:solidFill>
              <a:srgbClr val="0B6E66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6E6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 (smallest)</c:v>
                  </c:pt>
                  <c:pt idx="1">
                    <c:v>Q2</c:v>
                  </c:pt>
                  <c:pt idx="2">
                    <c:v>Q3</c:v>
                  </c:pt>
                  <c:pt idx="3">
                    <c:v>Q4 (largest)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51164</c:v>
                </c:pt>
                <c:pt idx="1">
                  <c:v>50416</c:v>
                </c:pt>
                <c:pt idx="2">
                  <c:v>49318</c:v>
                </c:pt>
                <c:pt idx="3">
                  <c:v>49305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B6E6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363636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ROI Tier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8A5A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4FA87A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FF7A59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C43D3D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High-performing</c:v>
                </c:pt>
                <c:pt idx="1">
                  <c:v>Profitable</c:v>
                </c:pt>
                <c:pt idx="2">
                  <c:v>Underperforming</c:v>
                </c:pt>
                <c:pt idx="3">
                  <c:v>Loss-making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4298</c:v>
                </c:pt>
                <c:pt idx="1">
                  <c:v>4280</c:v>
                </c:pt>
                <c:pt idx="2">
                  <c:v>1087</c:v>
                </c:pt>
                <c:pt idx="3">
                  <c:v>26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 per Conversion</c:v>
                </c:pt>
              </c:strCache>
            </c:strRef>
          </c:tx>
          <c:spPr>
            <a:solidFill>
              <a:srgbClr val="0B6E66"/>
            </a:solidFill>
            <a:effectLst/>
          </c:spPr>
          <c:invertIfNegative val="0"/>
          <c:dLbls>
            <c:numFmt formatCode="$#,##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6E6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Basic</c:v>
                  </c:pt>
                  <c:pt idx="1">
                    <c:v>Standard</c:v>
                  </c:pt>
                  <c:pt idx="2">
                    <c:v>Premium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50.25</c:v>
                </c:pt>
                <c:pt idx="1">
                  <c:v>51.37</c:v>
                </c:pt>
                <c:pt idx="2">
                  <c:v>50.12</c:v>
                </c:pt>
              </c:numCache>
            </c:numRef>
          </c:val>
        </c:ser>
        <c:dLbls>
          <c:numFmt formatCode="$#,##0.00" sourceLinked="0"/>
          <c:txPr>
            <a:bodyPr/>
            <a:lstStyle/>
            <a:p>
              <a:pPr>
                <a:defRPr b="0" i="0" strike="noStrike" sz="1000" u="none">
                  <a:solidFill>
                    <a:srgbClr val="0B6E6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363636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ROI</c:v>
                </c:pt>
              </c:strCache>
            </c:strRef>
          </c:tx>
          <c:spPr>
            <a:solidFill>
              <a:srgbClr val="C43D3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C43D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CMP_9LO5L2</c:v>
                  </c:pt>
                  <c:pt idx="1">
                    <c:v>CMP_A84VZO</c:v>
                  </c:pt>
                  <c:pt idx="2">
                    <c:v>CMP_DZ53C6</c:v>
                  </c:pt>
                  <c:pt idx="3">
                    <c:v>CMP_NDJA1R</c:v>
                  </c:pt>
                  <c:pt idx="4">
                    <c:v>CMP_O1LPF1</c:v>
                  </c:pt>
                  <c:pt idx="5">
                    <c:v>CMP_VU272H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-0.407</c:v>
                </c:pt>
                <c:pt idx="1">
                  <c:v>-0.451</c:v>
                </c:pt>
                <c:pt idx="2">
                  <c:v>-0.434</c:v>
                </c:pt>
                <c:pt idx="3">
                  <c:v>-0.439</c:v>
                </c:pt>
                <c:pt idx="4">
                  <c:v>-0.452</c:v>
                </c:pt>
                <c:pt idx="5">
                  <c:v>-0.464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50" u="none">
                  <a:solidFill>
                    <a:srgbClr val="C43D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363636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High-performing</c:v>
                </c:pt>
              </c:strCache>
            </c:strRef>
          </c:tx>
          <c:spPr>
            <a:solidFill>
              <a:srgbClr val="1B8A5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 (smallest)</c:v>
                  </c:pt>
                  <c:pt idx="1">
                    <c:v>Q2</c:v>
                  </c:pt>
                  <c:pt idx="2">
                    <c:v>Q3</c:v>
                  </c:pt>
                  <c:pt idx="3">
                    <c:v>Q4 (largest)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43.1</c:v>
                </c:pt>
                <c:pt idx="1">
                  <c:v>43.3</c:v>
                </c:pt>
                <c:pt idx="2">
                  <c:v>44.6</c:v>
                </c:pt>
                <c:pt idx="3">
                  <c:v>46.4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Profitable</c:v>
                </c:pt>
              </c:strCache>
            </c:strRef>
          </c:tx>
          <c:spPr>
            <a:solidFill>
              <a:srgbClr val="4FA87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 (smallest)</c:v>
                  </c:pt>
                  <c:pt idx="1">
                    <c:v>Q2</c:v>
                  </c:pt>
                  <c:pt idx="2">
                    <c:v>Q3</c:v>
                  </c:pt>
                  <c:pt idx="3">
                    <c:v>Q4 (largest)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45.4</c:v>
                </c:pt>
                <c:pt idx="1">
                  <c:v>45.4</c:v>
                </c:pt>
                <c:pt idx="2">
                  <c:v>43.2</c:v>
                </c:pt>
                <c:pt idx="3">
                  <c:v>42.6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Underperforming</c:v>
                </c:pt>
              </c:strCache>
            </c:strRef>
          </c:tx>
          <c:spPr>
            <a:solidFill>
              <a:srgbClr val="FF7A59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 (smallest)</c:v>
                  </c:pt>
                  <c:pt idx="1">
                    <c:v>Q2</c:v>
                  </c:pt>
                  <c:pt idx="2">
                    <c:v>Q3</c:v>
                  </c:pt>
                  <c:pt idx="3">
                    <c:v>Q4 (largest)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11.3</c:v>
                </c:pt>
                <c:pt idx="1">
                  <c:v>11</c:v>
                </c:pt>
                <c:pt idx="2">
                  <c:v>11.9</c:v>
                </c:pt>
                <c:pt idx="3">
                  <c:v>10.6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Loss-making</c:v>
                </c:pt>
              </c:strCache>
            </c:strRef>
          </c:tx>
          <c:spPr>
            <a:solidFill>
              <a:srgbClr val="C43D3D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 (smallest)</c:v>
                  </c:pt>
                  <c:pt idx="1">
                    <c:v>Q2</c:v>
                  </c:pt>
                  <c:pt idx="2">
                    <c:v>Q3</c:v>
                  </c:pt>
                  <c:pt idx="3">
                    <c:v>Q4 (largest)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0.2</c:v>
                </c:pt>
                <c:pt idx="1">
                  <c:v>0.3</c:v>
                </c:pt>
                <c:pt idx="2">
                  <c:v>0.3</c:v>
                </c:pt>
                <c:pt idx="3">
                  <c:v>0.3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363636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Units Sold</c:v>
                </c:pt>
              </c:strCache>
            </c:strRef>
          </c:tx>
          <c:spPr>
            <a:solidFill>
              <a:srgbClr val="0B6E66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6E6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0-20%</c:v>
                  </c:pt>
                  <c:pt idx="1">
                    <c:v>20-40%</c:v>
                  </c:pt>
                  <c:pt idx="2">
                    <c:v>40-60%</c:v>
                  </c:pt>
                  <c:pt idx="3">
                    <c:v>60-80%</c:v>
                  </c:pt>
                  <c:pt idx="4">
                    <c:v>80-100%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100.7</c:v>
                </c:pt>
                <c:pt idx="1">
                  <c:v>100.1</c:v>
                </c:pt>
                <c:pt idx="2">
                  <c:v>100.5</c:v>
                </c:pt>
                <c:pt idx="3">
                  <c:v>102.2</c:v>
                </c:pt>
                <c:pt idx="4">
                  <c:v>105.7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000" u="none">
                  <a:solidFill>
                    <a:srgbClr val="0B6E6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363636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Satisfaction</c:v>
                </c:pt>
              </c:strCache>
            </c:strRef>
          </c:tx>
          <c:spPr>
            <a:solidFill>
              <a:srgbClr val="0B6E6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6E6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B6E6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B6E6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B6E6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B6E6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F7A59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0-20%</c:v>
                  </c:pt>
                  <c:pt idx="1">
                    <c:v>20-40%</c:v>
                  </c:pt>
                  <c:pt idx="2">
                    <c:v>40-60%</c:v>
                  </c:pt>
                  <c:pt idx="3">
                    <c:v>60-80%</c:v>
                  </c:pt>
                  <c:pt idx="4">
                    <c:v>80-100%*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2.5</c:v>
                </c:pt>
                <c:pt idx="1">
                  <c:v>2.51</c:v>
                </c:pt>
                <c:pt idx="2">
                  <c:v>2.52</c:v>
                </c:pt>
                <c:pt idx="3">
                  <c:v>2.45</c:v>
                </c:pt>
                <c:pt idx="4">
                  <c:v>1.67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0B6E6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363636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Revenue ($)</c:v>
                </c:pt>
              </c:strCache>
            </c:strRef>
          </c:tx>
          <c:spPr>
            <a:solidFill>
              <a:srgbClr val="0B6E66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B6E6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Basic</c:v>
                  </c:pt>
                  <c:pt idx="1">
                    <c:v>Standard</c:v>
                  </c:pt>
                  <c:pt idx="2">
                    <c:v>Premium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50218</c:v>
                </c:pt>
                <c:pt idx="1">
                  <c:v>49769</c:v>
                </c:pt>
                <c:pt idx="2">
                  <c:v>50160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900" u="none">
                  <a:solidFill>
                    <a:srgbClr val="0B6E6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363636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Satisfaction</c:v>
                </c:pt>
              </c:strCache>
            </c:strRef>
          </c:tx>
          <c:spPr>
            <a:solidFill>
              <a:srgbClr val="4FA87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8A5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Basic</c:v>
                  </c:pt>
                  <c:pt idx="1">
                    <c:v>Standard</c:v>
                  </c:pt>
                  <c:pt idx="2">
                    <c:v>Premium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2.5</c:v>
                </c:pt>
                <c:pt idx="1">
                  <c:v>2.54</c:v>
                </c:pt>
                <c:pt idx="2">
                  <c:v>2.47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1B8A5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363636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Segment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43D3D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1B8A5A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Detractor (1-2)</c:v>
                </c:pt>
                <c:pt idx="1">
                  <c:v>Promoter (3-4)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4882</c:v>
                </c:pt>
                <c:pt idx="1">
                  <c:v>4809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Revenue ($M)</c:v>
                </c:pt>
              </c:strCache>
            </c:strRef>
          </c:tx>
          <c:spPr>
            <a:solidFill>
              <a:srgbClr val="0B6E66"/>
            </a:solidFill>
            <a:effectLst/>
          </c:spPr>
          <c:invertIfNegative val="0"/>
          <c:dLbls>
            <c:numFmt formatCode="&quot;$&quot;0.0&quot;M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B6E6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Affordable</c:v>
                  </c:pt>
                  <c:pt idx="1">
                    <c:v>Innovative</c:v>
                  </c:pt>
                  <c:pt idx="2">
                    <c:v>Durable</c:v>
                  </c:pt>
                  <c:pt idx="3">
                    <c:v>Stylish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126.2</c:v>
                </c:pt>
                <c:pt idx="1">
                  <c:v>122.1</c:v>
                </c:pt>
                <c:pt idx="2">
                  <c:v>118.9</c:v>
                </c:pt>
                <c:pt idx="3">
                  <c:v>117.8</c:v>
                </c:pt>
              </c:numCache>
            </c:numRef>
          </c:val>
        </c:ser>
        <c:dLbls>
          <c:numFmt formatCode="&quot;$&quot;0.0&quot;M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0B6E6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363636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2.png"/><Relationship Id="rId4" Type="http://schemas.openxmlformats.org/officeDocument/2006/relationships/image" Target="../media/image-3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image" Target="../media/image-1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image" Target="../media/image-1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image" Target="../media/image-1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image" Target="../media/image-14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chart" Target="/ppt/charts/chart9.xml"/><Relationship Id="rId3" Type="http://schemas.openxmlformats.org/officeDocument/2006/relationships/chart" Target="/ppt/charts/chart10.xml"/><Relationship Id="rId4" Type="http://schemas.openxmlformats.org/officeDocument/2006/relationships/image" Target="../media/image-15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image" Target="../media/image-1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6E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103120"/>
            <a:ext cx="5486400" cy="5486400"/>
          </a:xfrm>
          <a:prstGeom prst="ellipse">
            <a:avLst/>
          </a:prstGeom>
          <a:solidFill>
            <a:srgbClr val="073430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5120640"/>
            <a:ext cx="3108960" cy="3108960"/>
          </a:xfrm>
          <a:prstGeom prst="ellipse">
            <a:avLst/>
          </a:prstGeom>
          <a:solidFill>
            <a:srgbClr val="07343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PRODUCT PERFORMANCE ANALYTICS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9601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Data to a Boardroom-Ready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Platform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34340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FE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 •  Star-Schema Modeling  •  KPI Design  •  Executive Dashboards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989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Data Analytics Team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6263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marketing_and_product_performance_dirty.xlsx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6E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Walk Through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FE8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417320" y="18288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Business Context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221284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team needs, and why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172200" y="17830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FE8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949440" y="18288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949440" y="221284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raw, error-prone data to a trustworthy dataset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2004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FE8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1417320" y="32461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363016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star schema built for fast, reliable reporting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72200" y="32004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FE8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949440" y="32461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Framework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49440" y="363016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measures across 4 business-aligned categories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6177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FE8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1417320" y="46634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504748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dashboards, twelve charts, real findings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72200" y="46177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FE8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6949440" y="46634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49440" y="504748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prioritized, evidence-based actions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6E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Team Needs One Reliable View of Marketing Performance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35640" cy="2011680"/>
          </a:xfrm>
          <a:prstGeom prst="roundRect">
            <a:avLst>
              <a:gd name="adj" fmla="val 3636"/>
            </a:avLst>
          </a:prstGeom>
          <a:solidFill>
            <a:srgbClr val="E7F5F2"/>
          </a:solidFill>
          <a:ln w="12700">
            <a:solidFill>
              <a:srgbClr val="E7F5F2"/>
            </a:solidFill>
            <a:prstDash val="solid"/>
          </a:ln>
          <a:effectLst>
            <a:outerShdw sx="100000" sy="100000" kx="0" ky="0" algn="bl" rotWithShape="0" blurRad="101600" dist="38100" dir="5400000">
              <a:srgbClr val="2B2F3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01952"/>
            <a:ext cx="585216" cy="585216"/>
          </a:xfrm>
          <a:prstGeom prst="ellipse">
            <a:avLst/>
          </a:prstGeom>
          <a:solidFill>
            <a:srgbClr val="0B6E66"/>
          </a:solidFill>
          <a:ln/>
        </p:spPr>
      </p:sp>
      <p:pic>
        <p:nvPicPr>
          <p:cNvPr id="6" name="Image 0" descr="/home/claude/ppt/icons/targe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4626" y="1972178"/>
            <a:ext cx="444764" cy="4447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783080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0B6E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“We want to understand, overall, how marketing is performing.”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691640" y="2331720"/>
            <a:ext cx="9464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request from the marketing team is the starting point for this entire project: a single, trustworthy view that answers whether spend, discounts, bundles, and subscriptions are actually working — not five disconnected spreadsheets with five different answers.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3886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hard today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4251960"/>
            <a:ext cx="365760" cy="365760"/>
          </a:xfrm>
          <a:prstGeom prst="ellipse">
            <a:avLst/>
          </a:prstGeom>
          <a:solidFill>
            <a:srgbClr val="FF7A59"/>
          </a:solidFill>
          <a:ln/>
        </p:spPr>
      </p:sp>
      <p:pic>
        <p:nvPicPr>
          <p:cNvPr id="11" name="Image 1" descr="/home/claude/ppt/icons/aler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971" y="4295851"/>
            <a:ext cx="277978" cy="27797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88720" y="420624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Campaign, subscription, flash-sale, bundle, and satisfaction data live in one raw file with no shared, trustworthy structure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4754880"/>
            <a:ext cx="365760" cy="365760"/>
          </a:xfrm>
          <a:prstGeom prst="ellipse">
            <a:avLst/>
          </a:prstGeom>
          <a:solidFill>
            <a:srgbClr val="FF7A59"/>
          </a:solidFill>
          <a:ln/>
        </p:spPr>
      </p:sp>
      <p:pic>
        <p:nvPicPr>
          <p:cNvPr id="14" name="Image 2" descr="/home/claude/ppt/icons/alert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971" y="4798771"/>
            <a:ext cx="277978" cy="27797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88720" y="470916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issues (duplicates, invalid values, inconsistent labels) make simple totals unreliable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5257800"/>
            <a:ext cx="365760" cy="365760"/>
          </a:xfrm>
          <a:prstGeom prst="ellipse">
            <a:avLst/>
          </a:prstGeom>
          <a:solidFill>
            <a:srgbClr val="FF7A59"/>
          </a:solidFill>
          <a:ln/>
        </p:spPr>
      </p:sp>
      <p:pic>
        <p:nvPicPr>
          <p:cNvPr id="17" name="Image 3" descr="/home/claude/ppt/icons/alert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971" y="5301691"/>
            <a:ext cx="277978" cy="27797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88720" y="521208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agreed-upon KPI definitions, so “ROI” or “conversion rate” can mean different things in different reports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640080" y="5943600"/>
            <a:ext cx="10835640" cy="640080"/>
          </a:xfrm>
          <a:prstGeom prst="roundRect">
            <a:avLst>
              <a:gd name="adj" fmla="val 11429"/>
            </a:avLst>
          </a:prstGeom>
          <a:solidFill>
            <a:srgbClr val="0B6E66"/>
          </a:solidFill>
          <a:ln w="12700">
            <a:solidFill>
              <a:srgbClr val="0B6E66"/>
            </a:solidFill>
            <a:prstDash val="solid"/>
          </a:ln>
          <a:effectLst>
            <a:outerShdw sx="100000" sy="100000" kx="0" ky="0" algn="bl" rotWithShape="0" blurRad="101600" dist="38100" dir="5400000">
              <a:srgbClr val="2B2F3A">
                <a:alpha val="12000"/>
              </a:srgbClr>
            </a:outerShdw>
          </a:effectLst>
        </p:spPr>
      </p:sp>
      <p:sp>
        <p:nvSpPr>
          <p:cNvPr id="20" name="Text 14"/>
          <p:cNvSpPr/>
          <p:nvPr/>
        </p:nvSpPr>
        <p:spPr>
          <a:xfrm>
            <a:off x="914400" y="594360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project's answer: a clean data model, a defined KPI framework, and two dashboards that give the team one overall view — on demand.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6E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Flat File, Five Business Activities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source data sits at the intersection of digital marketing and e-commerce / subscription product performance — each record combines five activities a growth team tracks separately.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1993392" cy="324612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2B2F3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53312" y="2651760"/>
            <a:ext cx="566928" cy="566928"/>
          </a:xfrm>
          <a:prstGeom prst="ellipse">
            <a:avLst/>
          </a:prstGeom>
          <a:solidFill>
            <a:srgbClr val="0B6E66"/>
          </a:solidFill>
          <a:ln/>
        </p:spPr>
      </p:sp>
      <p:pic>
        <p:nvPicPr>
          <p:cNvPr id="7" name="Image 0" descr="/home/claude/ppt/icons/trending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1343" y="2719791"/>
            <a:ext cx="430865" cy="43086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474720"/>
            <a:ext cx="17190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Campaigns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4206240"/>
            <a:ext cx="171907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Budget, clicks, conversions, revenue, ROI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798064" y="2331720"/>
            <a:ext cx="1993392" cy="324612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2B2F3A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11296" y="2651760"/>
            <a:ext cx="566928" cy="566928"/>
          </a:xfrm>
          <a:prstGeom prst="ellipse">
            <a:avLst/>
          </a:prstGeom>
          <a:solidFill>
            <a:srgbClr val="0B6E66"/>
          </a:solidFill>
          <a:ln/>
        </p:spPr>
      </p:sp>
      <p:pic>
        <p:nvPicPr>
          <p:cNvPr id="12" name="Image 1" descr="/home/claude/ppt/icons/users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9327" y="2719791"/>
            <a:ext cx="430865" cy="43086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35224" y="3474720"/>
            <a:ext cx="17190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Subscriptions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935224" y="4206240"/>
            <a:ext cx="171907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and tenure of the customer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956048" y="2331720"/>
            <a:ext cx="1993392" cy="324612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2B2F3A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669280" y="2651760"/>
            <a:ext cx="566928" cy="566928"/>
          </a:xfrm>
          <a:prstGeom prst="ellipse">
            <a:avLst/>
          </a:prstGeom>
          <a:solidFill>
            <a:srgbClr val="0B6E66"/>
          </a:solidFill>
          <a:ln/>
        </p:spPr>
      </p:sp>
      <p:pic>
        <p:nvPicPr>
          <p:cNvPr id="17" name="Image 2" descr="/home/claude/ppt/icons/percent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7311" y="2719791"/>
            <a:ext cx="430865" cy="43086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093208" y="3474720"/>
            <a:ext cx="17190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Sales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093208" y="4206240"/>
            <a:ext cx="171907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Time-boxed discount events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7114032" y="2331720"/>
            <a:ext cx="1993392" cy="324612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2B2F3A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827264" y="2651760"/>
            <a:ext cx="566928" cy="566928"/>
          </a:xfrm>
          <a:prstGeom prst="ellipse">
            <a:avLst/>
          </a:prstGeom>
          <a:solidFill>
            <a:srgbClr val="0B6E66"/>
          </a:solidFill>
          <a:ln/>
        </p:spPr>
      </p:sp>
      <p:pic>
        <p:nvPicPr>
          <p:cNvPr id="22" name="Image 3" descr="/home/claude/ppt/icons/bag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5295" y="2719791"/>
            <a:ext cx="430865" cy="43086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51192" y="3474720"/>
            <a:ext cx="17190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Bundling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7251192" y="4206240"/>
            <a:ext cx="171907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Multi-product bundles and pricing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9272016" y="2331720"/>
            <a:ext cx="1993392" cy="324612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2B2F3A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9985248" y="2651760"/>
            <a:ext cx="566928" cy="566928"/>
          </a:xfrm>
          <a:prstGeom prst="ellipse">
            <a:avLst/>
          </a:prstGeom>
          <a:solidFill>
            <a:srgbClr val="0B6E66"/>
          </a:solidFill>
          <a:ln/>
        </p:spPr>
      </p:sp>
      <p:pic>
        <p:nvPicPr>
          <p:cNvPr id="27" name="Image 4" descr="/home/claude/ppt/icons/thumbsup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3279" y="2719791"/>
            <a:ext cx="430865" cy="43086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409176" y="3474720"/>
            <a:ext cx="17190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Post-Refund Satisfaction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9409176" y="4206240"/>
            <a:ext cx="171907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sentiment after a refund</a:t>
            </a:r>
            <a:endParaRPr lang="en-US" sz="1050" dirty="0"/>
          </a:p>
        </p:txBody>
      </p:sp>
      <p:sp>
        <p:nvSpPr>
          <p:cNvPr id="30" name="Text 23"/>
          <p:cNvSpPr/>
          <p:nvPr/>
        </p:nvSpPr>
        <p:spPr>
          <a:xfrm>
            <a:off x="640080" y="5989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problem: it isn't clear which of these levers actually drive revenue, protect margin, and keep customers satisfied.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&amp;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6E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Delivers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4206240"/>
          </a:xfrm>
          <a:prstGeom prst="roundRect">
            <a:avLst>
              <a:gd name="adj" fmla="val 1739"/>
            </a:avLst>
          </a:prstGeom>
          <a:solidFill>
            <a:srgbClr val="E7F5F2"/>
          </a:solidFill>
          <a:ln w="12700">
            <a:solidFill>
              <a:srgbClr val="E7F5F2"/>
            </a:solidFill>
            <a:prstDash val="solid"/>
          </a:ln>
          <a:effectLst>
            <a:outerShdw sx="100000" sy="100000" kx="0" ky="0" algn="bl" rotWithShape="0" blurRad="101600" dist="38100" dir="5400000">
              <a:srgbClr val="2B2F3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57400"/>
            <a:ext cx="566928" cy="566928"/>
          </a:xfrm>
          <a:prstGeom prst="ellipse">
            <a:avLst/>
          </a:prstGeom>
          <a:solidFill>
            <a:srgbClr val="0B6E66"/>
          </a:solidFill>
          <a:ln/>
        </p:spPr>
      </p:sp>
      <p:pic>
        <p:nvPicPr>
          <p:cNvPr id="6" name="Image 0" descr="/home/claude/ppt/icons/targe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151" y="2125431"/>
            <a:ext cx="430865" cy="4308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1031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60120" y="2788920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clean, trustworthy dataset and an evidence-based analysis that helps Marketing, Product, and CX leadership prioritize where to invest, where to cut, and where to investigate further.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60120" y="4224528"/>
            <a:ext cx="82296" cy="82296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10" name="Text 7"/>
          <p:cNvSpPr/>
          <p:nvPr/>
        </p:nvSpPr>
        <p:spPr>
          <a:xfrm>
            <a:off x="1188720" y="41148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marketing spend driving revenue and ROI?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960120" y="4608576"/>
            <a:ext cx="82296" cy="82296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12" name="Text 9"/>
          <p:cNvSpPr/>
          <p:nvPr/>
        </p:nvSpPr>
        <p:spPr>
          <a:xfrm>
            <a:off x="1188720" y="449884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 deeper discount sell more units?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60120" y="4992624"/>
            <a:ext cx="82296" cy="82296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14" name="Text 11"/>
          <p:cNvSpPr/>
          <p:nvPr/>
        </p:nvSpPr>
        <p:spPr>
          <a:xfrm>
            <a:off x="1188720" y="488289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subscription tiers differ in real value?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960120" y="5376672"/>
            <a:ext cx="82296" cy="82296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16" name="Text 13"/>
          <p:cNvSpPr/>
          <p:nvPr/>
        </p:nvSpPr>
        <p:spPr>
          <a:xfrm>
            <a:off x="1188720" y="526694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keyword drives the strongest performance?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263640" y="1737360"/>
            <a:ext cx="525780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2B2F3A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583680" y="2057400"/>
            <a:ext cx="566928" cy="566928"/>
          </a:xfrm>
          <a:prstGeom prst="ellipse">
            <a:avLst/>
          </a:prstGeom>
          <a:solidFill>
            <a:srgbClr val="FF7A59"/>
          </a:solidFill>
          <a:ln/>
        </p:spPr>
      </p:sp>
      <p:pic>
        <p:nvPicPr>
          <p:cNvPr id="19" name="Image 1" descr="/home/claude/ppt/icons/scal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1711" y="2125431"/>
            <a:ext cx="430865" cy="430865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315200" y="21031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  vs.  Out of Scope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6583680" y="283464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6583680" y="315468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and diagnostic analysis of campaign performance, flash-sale behavior, bundling economics, subscription-tier patterns, and post-refund satisfaction.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6583680" y="420624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4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6583680" y="452628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modeling, causal inference, and time-based trend analysis — the source data has no date or timestamp column.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6E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Wide Table, 17 Business Fields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source file is a single worksheet with one row per marketing campaign, carrying attached product, customer, flash-sale, bundle, and satisfaction attributes.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2514600" cy="1691640"/>
          </a:xfrm>
          <a:prstGeom prst="roundRect">
            <a:avLst>
              <a:gd name="adj" fmla="val 4324"/>
            </a:avLst>
          </a:prstGeom>
          <a:solidFill>
            <a:srgbClr val="0B6E66"/>
          </a:solidFill>
          <a:ln w="12700">
            <a:solidFill>
              <a:srgbClr val="0B6E66"/>
            </a:solidFill>
            <a:prstDash val="solid"/>
          </a:ln>
          <a:effectLst>
            <a:outerShdw sx="100000" sy="100000" kx="0" ky="0" algn="bl" rotWithShape="0" blurRad="101600" dist="38100" dir="5400000">
              <a:srgbClr val="2B2F3A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587752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9,691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32918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campaign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37560" y="2331720"/>
            <a:ext cx="2514600" cy="1691640"/>
          </a:xfrm>
          <a:prstGeom prst="roundRect">
            <a:avLst>
              <a:gd name="adj" fmla="val 4324"/>
            </a:avLst>
          </a:prstGeom>
          <a:solidFill>
            <a:srgbClr val="E7F5F2"/>
          </a:solidFill>
          <a:ln w="12700">
            <a:solidFill>
              <a:srgbClr val="E7F5F2"/>
            </a:solidFill>
            <a:prstDash val="solid"/>
          </a:ln>
          <a:effectLst>
            <a:outerShdw sx="100000" sy="100000" kx="0" ky="0" algn="bl" rotWithShape="0" blurRad="101600" dist="38100" dir="5400000">
              <a:srgbClr val="2B2F3A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20440" y="2587752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6E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520440" y="32918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business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35040" y="2331720"/>
            <a:ext cx="2514600" cy="1691640"/>
          </a:xfrm>
          <a:prstGeom prst="roundRect">
            <a:avLst>
              <a:gd name="adj" fmla="val 4324"/>
            </a:avLst>
          </a:prstGeom>
          <a:solidFill>
            <a:srgbClr val="E7F5F2"/>
          </a:solidFill>
          <a:ln w="12700">
            <a:solidFill>
              <a:srgbClr val="E7F5F2"/>
            </a:solidFill>
            <a:prstDash val="solid"/>
          </a:ln>
          <a:effectLst>
            <a:outerShdw sx="100000" sy="100000" kx="0" ky="0" algn="bl" rotWithShape="0" blurRad="101600" dist="38100" dir="5400000">
              <a:srgbClr val="2B2F3A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2587752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6E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217920" y="32918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keys linking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entities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32520" y="2331720"/>
            <a:ext cx="2514600" cy="1691640"/>
          </a:xfrm>
          <a:prstGeom prst="roundRect">
            <a:avLst>
              <a:gd name="adj" fmla="val 4324"/>
            </a:avLst>
          </a:prstGeom>
          <a:solidFill>
            <a:srgbClr val="E7F5F2"/>
          </a:solidFill>
          <a:ln w="12700">
            <a:solidFill>
              <a:srgbClr val="E7F5F2"/>
            </a:solidFill>
            <a:prstDash val="solid"/>
          </a:ln>
          <a:effectLst>
            <a:outerShdw sx="100000" sy="100000" kx="0" ky="0" algn="bl" rotWithShape="0" blurRad="101600" dist="38100" dir="5400000">
              <a:srgbClr val="2B2F3A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915400" y="2587752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6E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915400" y="32918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" y="4343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dictionary highlights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47548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→ Revenue_Generated → ROI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943600" y="47548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investment and return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" y="51206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Subscription_Tier → Subscription_Length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943600" y="51206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plan and tenure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0080" y="54864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Discount_Level → Units_Sold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943600" y="54864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Flash-sale depth and volume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0080" y="58521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Bundle_Price → Common_Keywords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943600" y="58521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pricing and positioning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0080" y="62179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Customer_Satisfaction_Post_Refund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943600" y="62179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after a refund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6E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Fix Was Verified, Not Assumed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analysis, the raw dataset was profiled and systematically corrected — each fix tested against the data's own patterns.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40156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2B2F3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350008"/>
            <a:ext cx="457200" cy="457200"/>
          </a:xfrm>
          <a:prstGeom prst="ellipse">
            <a:avLst/>
          </a:prstGeom>
          <a:solidFill>
            <a:srgbClr val="0B6E66"/>
          </a:solidFill>
          <a:ln/>
        </p:spPr>
      </p:sp>
      <p:pic>
        <p:nvPicPr>
          <p:cNvPr id="7" name="Image 0" descr="/home/claude/ppt/icons/filewarning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404872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33172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Records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41248" y="2926080"/>
            <a:ext cx="29992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duplicated rows and duplicated campaign-key records were identified and removed, keeping one clean copy per campaign.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178808" y="2148840"/>
            <a:ext cx="340156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2B2F3A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79976" y="2350008"/>
            <a:ext cx="457200" cy="457200"/>
          </a:xfrm>
          <a:prstGeom prst="ellipse">
            <a:avLst/>
          </a:prstGeom>
          <a:solidFill>
            <a:srgbClr val="0B6E66"/>
          </a:solidFill>
          <a:ln/>
        </p:spPr>
      </p:sp>
      <p:pic>
        <p:nvPicPr>
          <p:cNvPr id="12" name="Image 1" descr="/home/claude/ppt/icons/spellcheck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2404872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956048" y="233172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Text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379976" y="2926080"/>
            <a:ext cx="29992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Case, whitespace, and typos (“Basci”, “Durrable”) were standardized into clean, consistent categories.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7717536" y="2148840"/>
            <a:ext cx="340156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2B2F3A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918704" y="2350008"/>
            <a:ext cx="457200" cy="457200"/>
          </a:xfrm>
          <a:prstGeom prst="ellipse">
            <a:avLst/>
          </a:prstGeom>
          <a:solidFill>
            <a:srgbClr val="0B6E66"/>
          </a:solidFill>
          <a:ln/>
        </p:spPr>
      </p:sp>
      <p:pic>
        <p:nvPicPr>
          <p:cNvPr id="17" name="Image 2" descr="/home/claude/ppt/icons/alert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2404872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94776" y="233172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&amp; Impossible Values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7918704" y="2926080"/>
            <a:ext cx="29992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Sign, scale, and offset errors in Budget, Units_Sold, Discount_Level, and ROI were diagnosed and corrected with verified rules.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40080" y="4005072"/>
            <a:ext cx="340156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2B2F3A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41248" y="4206240"/>
            <a:ext cx="457200" cy="457200"/>
          </a:xfrm>
          <a:prstGeom prst="ellipse">
            <a:avLst/>
          </a:prstGeom>
          <a:solidFill>
            <a:srgbClr val="0B6E66"/>
          </a:solidFill>
          <a:ln/>
        </p:spPr>
      </p:sp>
      <p:pic>
        <p:nvPicPr>
          <p:cNvPr id="22" name="Image 3" descr="/home/claude/ppt/icons/gitbranch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261104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17320" y="4187952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Integrity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841248" y="4782312"/>
            <a:ext cx="29992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Conversions occasionally exceeding Clicks was documented as a known limitation rather than silently patched.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4178808" y="4005072"/>
            <a:ext cx="340156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2B2F3A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379976" y="4206240"/>
            <a:ext cx="457200" cy="457200"/>
          </a:xfrm>
          <a:prstGeom prst="ellipse">
            <a:avLst/>
          </a:prstGeom>
          <a:solidFill>
            <a:srgbClr val="0B6E66"/>
          </a:solidFill>
          <a:ln/>
        </p:spPr>
      </p:sp>
      <p:pic>
        <p:nvPicPr>
          <p:cNvPr id="27" name="Image 4" descr="/home/claude/ppt/icons/layers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4840" y="4261104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956048" y="4187952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4379976" y="4782312"/>
            <a:ext cx="29992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and numeric fields were cast to the correct types for reliable modeling and aggregation.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17536" y="4005072"/>
            <a:ext cx="340156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2B2F3A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7918704" y="4206240"/>
            <a:ext cx="457200" cy="457200"/>
          </a:xfrm>
          <a:prstGeom prst="ellipse">
            <a:avLst/>
          </a:prstGeom>
          <a:solidFill>
            <a:srgbClr val="0B6E66"/>
          </a:solidFill>
          <a:ln/>
        </p:spPr>
      </p:sp>
      <p:pic>
        <p:nvPicPr>
          <p:cNvPr id="32" name="Image 5" descr="/home/claude/ppt/icons/gauge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3568" y="4261104"/>
            <a:ext cx="347472" cy="34747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494776" y="4187952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Skewed Distributions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7918704" y="4782312"/>
            <a:ext cx="29992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Right-skewed financial fields received log-transformed companions for skew-sensitive analysis.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6E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Star Schema Built for Fast, Reliable Reporting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057400" y="2331720"/>
            <a:ext cx="4032504" cy="1463040"/>
          </a:xfrm>
          <a:prstGeom prst="line">
            <a:avLst/>
          </a:prstGeom>
          <a:noFill/>
          <a:ln w="22225">
            <a:solidFill>
              <a:srgbClr val="B9C3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6089904" y="2331720"/>
            <a:ext cx="4059936" cy="1463040"/>
          </a:xfrm>
          <a:prstGeom prst="line">
            <a:avLst/>
          </a:prstGeom>
          <a:noFill/>
          <a:ln w="22225">
            <a:solidFill>
              <a:srgbClr val="B9C3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2057400" y="3794760"/>
            <a:ext cx="4032504" cy="1554480"/>
          </a:xfrm>
          <a:prstGeom prst="line">
            <a:avLst/>
          </a:prstGeom>
          <a:noFill/>
          <a:ln w="22225">
            <a:solidFill>
              <a:srgbClr val="B9C3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89904" y="3794760"/>
            <a:ext cx="4059936" cy="1554480"/>
          </a:xfrm>
          <a:prstGeom prst="line">
            <a:avLst/>
          </a:prstGeom>
          <a:noFill/>
          <a:ln w="22225">
            <a:solidFill>
              <a:srgbClr val="B9C3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87452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E7F5F2"/>
          </a:solidFill>
          <a:ln w="12700">
            <a:solidFill>
              <a:srgbClr val="E7F5F2"/>
            </a:solidFill>
            <a:prstDash val="solid"/>
          </a:ln>
          <a:effectLst>
            <a:outerShdw sx="100000" sy="100000" kx="0" ky="0" algn="bl" rotWithShape="0" blurRad="101600" dist="38100" dir="5400000">
              <a:srgbClr val="2B2F3A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19842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Dim_Product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60120" y="229514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Product_ID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60120" y="251460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Common_Keywords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915400" y="187452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E7F5F2"/>
          </a:solidFill>
          <a:ln w="12700">
            <a:solidFill>
              <a:srgbClr val="E7F5F2"/>
            </a:solidFill>
            <a:prstDash val="solid"/>
          </a:ln>
          <a:effectLst>
            <a:outerShdw sx="100000" sy="100000" kx="0" ky="0" algn="bl" rotWithShape="0" blurRad="101600" dist="38100" dir="5400000">
              <a:srgbClr val="2B2F3A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052560" y="19842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Dim_Customer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052560" y="229514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Customer_ID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052560" y="251460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Tier, Tenure, Length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22960" y="489204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E7F5F2"/>
          </a:solidFill>
          <a:ln w="12700">
            <a:solidFill>
              <a:srgbClr val="E7F5F2"/>
            </a:solidFill>
            <a:prstDash val="solid"/>
          </a:ln>
          <a:effectLst>
            <a:outerShdw sx="100000" sy="100000" kx="0" ky="0" algn="bl" rotWithShape="0" blurRad="101600" dist="38100" dir="5400000">
              <a:srgbClr val="2B2F3A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0120" y="50017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Dim_FlashSale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60120" y="531266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Flash_Sale_ID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60120" y="55321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Discount_Level, Bucket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915400" y="489204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E7F5F2"/>
          </a:solidFill>
          <a:ln w="12700">
            <a:solidFill>
              <a:srgbClr val="E7F5F2"/>
            </a:solidFill>
            <a:prstDash val="solid"/>
          </a:ln>
          <a:effectLst>
            <a:outerShdw sx="100000" sy="100000" kx="0" ky="0" algn="bl" rotWithShape="0" blurRad="101600" dist="38100" dir="5400000">
              <a:srgbClr val="2B2F3A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052560" y="50017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Dim_Bundle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052560" y="531266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Bundle_ID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052560" y="55321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Bundle_Price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18304" y="329184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0B6E66"/>
          </a:solidFill>
          <a:ln/>
          <a:effectLst>
            <a:outerShdw sx="100000" sy="100000" kx="0" ky="0" algn="bl" rotWithShape="0" blurRad="127000" dist="50800" dir="5400000">
              <a:srgbClr val="1E2761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55464" y="341985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Fact_Campaign_Performance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55464" y="374904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Grain: one row per campaign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55464" y="398678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• Revenue • ROI • Units • Satisfaction • Ratios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22960" y="60807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dimension relates to the fact table through a single-direction, many-to-one relationship — the standard pattern that lets any dimension attribute filter every KPI.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FRAMEWORK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6E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Measures, Organized the Way the Business Thinks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KPIs table sits on top of the star schema, with every measure grouped into the four categories leadership actually reports 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514600" cy="338328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2B2F3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13916" y="2578608"/>
            <a:ext cx="566928" cy="566928"/>
          </a:xfrm>
          <a:prstGeom prst="ellipse">
            <a:avLst/>
          </a:prstGeom>
          <a:solidFill>
            <a:srgbClr val="0B6E66"/>
          </a:solidFill>
          <a:ln/>
        </p:spPr>
      </p:sp>
      <p:pic>
        <p:nvPicPr>
          <p:cNvPr id="7" name="Image 0" descr="/home/claude/ppt/icons/trending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1947" y="2646639"/>
            <a:ext cx="430865" cy="43086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3832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373075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measures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005840" y="4160520"/>
            <a:ext cx="1783080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429768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ROI • Cost per Conversion • % Profitable Campaigns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337560" y="2286000"/>
            <a:ext cx="2514600" cy="338328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2B2F3A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11396" y="2578608"/>
            <a:ext cx="566928" cy="566928"/>
          </a:xfrm>
          <a:prstGeom prst="ellipse">
            <a:avLst/>
          </a:prstGeom>
          <a:solidFill>
            <a:srgbClr val="0B6E66"/>
          </a:solidFill>
          <a:ln/>
        </p:spPr>
      </p:sp>
      <p:pic>
        <p:nvPicPr>
          <p:cNvPr id="14" name="Image 1" descr="/home/claude/ppt/icons/percen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427" y="2646639"/>
            <a:ext cx="430865" cy="43086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74720" y="33832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Sales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474720" y="373075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measures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703320" y="4160520"/>
            <a:ext cx="1783080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520440" y="429768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Units Sold • Avg Discount Level • Revenue per Unit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6035040" y="2286000"/>
            <a:ext cx="2514600" cy="338328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2B2F3A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008876" y="2578608"/>
            <a:ext cx="566928" cy="566928"/>
          </a:xfrm>
          <a:prstGeom prst="ellipse">
            <a:avLst/>
          </a:prstGeom>
          <a:solidFill>
            <a:srgbClr val="0B6E66"/>
          </a:solidFill>
          <a:ln/>
        </p:spPr>
      </p:sp>
      <p:pic>
        <p:nvPicPr>
          <p:cNvPr id="21" name="Image 2" descr="/home/claude/ppt/icons/bag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6907" y="2646639"/>
            <a:ext cx="430865" cy="43086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172200" y="33832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Bundling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172200" y="373075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measure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6400800" y="4160520"/>
            <a:ext cx="1783080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217920" y="429768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Bundle Price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8732520" y="2286000"/>
            <a:ext cx="2514600" cy="338328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2B2F3A">
                <a:alpha val="1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9706356" y="2578608"/>
            <a:ext cx="566928" cy="566928"/>
          </a:xfrm>
          <a:prstGeom prst="ellipse">
            <a:avLst/>
          </a:prstGeom>
          <a:solidFill>
            <a:srgbClr val="0B6E66"/>
          </a:solidFill>
          <a:ln/>
        </p:spPr>
      </p:sp>
      <p:pic>
        <p:nvPicPr>
          <p:cNvPr id="28" name="Image 3" descr="/home/claude/ppt/icons/users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4387" y="2646639"/>
            <a:ext cx="430865" cy="430865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8869680" y="33832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8869680" y="373075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measures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9098280" y="4160520"/>
            <a:ext cx="1783080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8915400" y="429768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Satisfaction • % Detractors • Distinct Customers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FRAMEWORK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6E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KPI Catalog — All 24 Measures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06040" cy="44805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2B2F3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91640"/>
            <a:ext cx="2606040" cy="502920"/>
          </a:xfrm>
          <a:prstGeom prst="rect">
            <a:avLst/>
          </a:prstGeom>
          <a:solidFill>
            <a:srgbClr val="0B6E6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916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(12)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04672" y="2404872"/>
            <a:ext cx="64008" cy="64008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8" name="Text 6"/>
          <p:cNvSpPr/>
          <p:nvPr/>
        </p:nvSpPr>
        <p:spPr>
          <a:xfrm>
            <a:off x="969264" y="2322576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Budget</a:t>
            </a:r>
            <a:endParaRPr lang="en-US" sz="970" dirty="0"/>
          </a:p>
        </p:txBody>
      </p:sp>
      <p:sp>
        <p:nvSpPr>
          <p:cNvPr id="9" name="Shape 7"/>
          <p:cNvSpPr/>
          <p:nvPr/>
        </p:nvSpPr>
        <p:spPr>
          <a:xfrm>
            <a:off x="804672" y="2738628"/>
            <a:ext cx="64008" cy="64008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10" name="Text 8"/>
          <p:cNvSpPr/>
          <p:nvPr/>
        </p:nvSpPr>
        <p:spPr>
          <a:xfrm>
            <a:off x="969264" y="265633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70" dirty="0"/>
          </a:p>
        </p:txBody>
      </p:sp>
      <p:sp>
        <p:nvSpPr>
          <p:cNvPr id="11" name="Shape 9"/>
          <p:cNvSpPr/>
          <p:nvPr/>
        </p:nvSpPr>
        <p:spPr>
          <a:xfrm>
            <a:off x="804672" y="3072384"/>
            <a:ext cx="64008" cy="64008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12" name="Text 10"/>
          <p:cNvSpPr/>
          <p:nvPr/>
        </p:nvSpPr>
        <p:spPr>
          <a:xfrm>
            <a:off x="969264" y="2990088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Clicks</a:t>
            </a:r>
            <a:endParaRPr lang="en-US" sz="970" dirty="0"/>
          </a:p>
        </p:txBody>
      </p:sp>
      <p:sp>
        <p:nvSpPr>
          <p:cNvPr id="13" name="Shape 11"/>
          <p:cNvSpPr/>
          <p:nvPr/>
        </p:nvSpPr>
        <p:spPr>
          <a:xfrm>
            <a:off x="804672" y="3406140"/>
            <a:ext cx="64008" cy="64008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14" name="Text 12"/>
          <p:cNvSpPr/>
          <p:nvPr/>
        </p:nvSpPr>
        <p:spPr>
          <a:xfrm>
            <a:off x="969264" y="3323844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Conversions</a:t>
            </a:r>
            <a:endParaRPr lang="en-US" sz="970" dirty="0"/>
          </a:p>
        </p:txBody>
      </p:sp>
      <p:sp>
        <p:nvSpPr>
          <p:cNvPr id="15" name="Shape 13"/>
          <p:cNvSpPr/>
          <p:nvPr/>
        </p:nvSpPr>
        <p:spPr>
          <a:xfrm>
            <a:off x="804672" y="3739896"/>
            <a:ext cx="64008" cy="64008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16" name="Text 14"/>
          <p:cNvSpPr/>
          <p:nvPr/>
        </p:nvSpPr>
        <p:spPr>
          <a:xfrm>
            <a:off x="969264" y="3657600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ROI</a:t>
            </a:r>
            <a:endParaRPr lang="en-US" sz="970" dirty="0"/>
          </a:p>
        </p:txBody>
      </p:sp>
      <p:sp>
        <p:nvSpPr>
          <p:cNvPr id="17" name="Shape 15"/>
          <p:cNvSpPr/>
          <p:nvPr/>
        </p:nvSpPr>
        <p:spPr>
          <a:xfrm>
            <a:off x="804672" y="4073652"/>
            <a:ext cx="64008" cy="64008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18" name="Text 16"/>
          <p:cNvSpPr/>
          <p:nvPr/>
        </p:nvSpPr>
        <p:spPr>
          <a:xfrm>
            <a:off x="969264" y="3991356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Dollar Spent</a:t>
            </a:r>
            <a:endParaRPr lang="en-US" sz="970" dirty="0"/>
          </a:p>
        </p:txBody>
      </p:sp>
      <p:sp>
        <p:nvSpPr>
          <p:cNvPr id="19" name="Shape 17"/>
          <p:cNvSpPr/>
          <p:nvPr/>
        </p:nvSpPr>
        <p:spPr>
          <a:xfrm>
            <a:off x="804672" y="4407408"/>
            <a:ext cx="64008" cy="64008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20" name="Text 18"/>
          <p:cNvSpPr/>
          <p:nvPr/>
        </p:nvSpPr>
        <p:spPr>
          <a:xfrm>
            <a:off x="969264" y="432511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Conversion</a:t>
            </a:r>
            <a:endParaRPr lang="en-US" sz="970" dirty="0"/>
          </a:p>
        </p:txBody>
      </p:sp>
      <p:sp>
        <p:nvSpPr>
          <p:cNvPr id="21" name="Shape 19"/>
          <p:cNvSpPr/>
          <p:nvPr/>
        </p:nvSpPr>
        <p:spPr>
          <a:xfrm>
            <a:off x="804672" y="4741164"/>
            <a:ext cx="64008" cy="64008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22" name="Text 20"/>
          <p:cNvSpPr/>
          <p:nvPr/>
        </p:nvSpPr>
        <p:spPr>
          <a:xfrm>
            <a:off x="969264" y="4658868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</a:t>
            </a:r>
            <a:endParaRPr lang="en-US" sz="970" dirty="0"/>
          </a:p>
        </p:txBody>
      </p:sp>
      <p:sp>
        <p:nvSpPr>
          <p:cNvPr id="23" name="Shape 21"/>
          <p:cNvSpPr/>
          <p:nvPr/>
        </p:nvSpPr>
        <p:spPr>
          <a:xfrm>
            <a:off x="804672" y="5074920"/>
            <a:ext cx="64008" cy="64008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24" name="Text 22"/>
          <p:cNvSpPr/>
          <p:nvPr/>
        </p:nvSpPr>
        <p:spPr>
          <a:xfrm>
            <a:off x="969264" y="4992624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Profitable Campaigns</a:t>
            </a:r>
            <a:endParaRPr lang="en-US" sz="970" dirty="0"/>
          </a:p>
        </p:txBody>
      </p:sp>
      <p:sp>
        <p:nvSpPr>
          <p:cNvPr id="25" name="Shape 23"/>
          <p:cNvSpPr/>
          <p:nvPr/>
        </p:nvSpPr>
        <p:spPr>
          <a:xfrm>
            <a:off x="804672" y="5408676"/>
            <a:ext cx="64008" cy="64008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26" name="Text 24"/>
          <p:cNvSpPr/>
          <p:nvPr/>
        </p:nvSpPr>
        <p:spPr>
          <a:xfrm>
            <a:off x="969264" y="5326380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Loss-Making Campaigns</a:t>
            </a:r>
            <a:endParaRPr lang="en-US" sz="970" dirty="0"/>
          </a:p>
        </p:txBody>
      </p:sp>
      <p:sp>
        <p:nvSpPr>
          <p:cNvPr id="27" name="Shape 25"/>
          <p:cNvSpPr/>
          <p:nvPr/>
        </p:nvSpPr>
        <p:spPr>
          <a:xfrm>
            <a:off x="804672" y="5742432"/>
            <a:ext cx="64008" cy="64008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28" name="Text 26"/>
          <p:cNvSpPr/>
          <p:nvPr/>
        </p:nvSpPr>
        <p:spPr>
          <a:xfrm>
            <a:off x="969264" y="5660136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Revenue per Campaign</a:t>
            </a:r>
            <a:endParaRPr lang="en-US" sz="970" dirty="0"/>
          </a:p>
        </p:txBody>
      </p:sp>
      <p:sp>
        <p:nvSpPr>
          <p:cNvPr id="29" name="Shape 27"/>
          <p:cNvSpPr/>
          <p:nvPr/>
        </p:nvSpPr>
        <p:spPr>
          <a:xfrm>
            <a:off x="804672" y="6076188"/>
            <a:ext cx="64008" cy="64008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30" name="Text 28"/>
          <p:cNvSpPr/>
          <p:nvPr/>
        </p:nvSpPr>
        <p:spPr>
          <a:xfrm>
            <a:off x="969264" y="599389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Budget per Campaign</a:t>
            </a:r>
            <a:endParaRPr lang="en-US" sz="970" dirty="0"/>
          </a:p>
        </p:txBody>
      </p:sp>
      <p:sp>
        <p:nvSpPr>
          <p:cNvPr id="31" name="Shape 29"/>
          <p:cNvSpPr/>
          <p:nvPr/>
        </p:nvSpPr>
        <p:spPr>
          <a:xfrm>
            <a:off x="3383280" y="1691640"/>
            <a:ext cx="2606040" cy="44805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2B2F3A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383280" y="1691640"/>
            <a:ext cx="2606040" cy="502920"/>
          </a:xfrm>
          <a:prstGeom prst="rect">
            <a:avLst/>
          </a:prstGeom>
          <a:solidFill>
            <a:srgbClr val="0B6E66"/>
          </a:solidFill>
          <a:ln/>
        </p:spPr>
      </p:sp>
      <p:sp>
        <p:nvSpPr>
          <p:cNvPr id="33" name="Text 31"/>
          <p:cNvSpPr/>
          <p:nvPr/>
        </p:nvSpPr>
        <p:spPr>
          <a:xfrm>
            <a:off x="3520440" y="16916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Sales (4)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547872" y="2404872"/>
            <a:ext cx="64008" cy="64008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35" name="Text 33"/>
          <p:cNvSpPr/>
          <p:nvPr/>
        </p:nvSpPr>
        <p:spPr>
          <a:xfrm>
            <a:off x="3712464" y="2322576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Units Sold</a:t>
            </a:r>
            <a:endParaRPr lang="en-US" sz="970" dirty="0"/>
          </a:p>
        </p:txBody>
      </p:sp>
      <p:sp>
        <p:nvSpPr>
          <p:cNvPr id="36" name="Shape 34"/>
          <p:cNvSpPr/>
          <p:nvPr/>
        </p:nvSpPr>
        <p:spPr>
          <a:xfrm>
            <a:off x="3547872" y="2738628"/>
            <a:ext cx="64008" cy="64008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37" name="Text 35"/>
          <p:cNvSpPr/>
          <p:nvPr/>
        </p:nvSpPr>
        <p:spPr>
          <a:xfrm>
            <a:off x="3712464" y="265633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Discount Level</a:t>
            </a:r>
            <a:endParaRPr lang="en-US" sz="970" dirty="0"/>
          </a:p>
        </p:txBody>
      </p:sp>
      <p:sp>
        <p:nvSpPr>
          <p:cNvPr id="38" name="Shape 36"/>
          <p:cNvSpPr/>
          <p:nvPr/>
        </p:nvSpPr>
        <p:spPr>
          <a:xfrm>
            <a:off x="3547872" y="3072384"/>
            <a:ext cx="64008" cy="64008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39" name="Text 37"/>
          <p:cNvSpPr/>
          <p:nvPr/>
        </p:nvSpPr>
        <p:spPr>
          <a:xfrm>
            <a:off x="3712464" y="2990088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Unit</a:t>
            </a:r>
            <a:endParaRPr lang="en-US" sz="970" dirty="0"/>
          </a:p>
        </p:txBody>
      </p:sp>
      <p:sp>
        <p:nvSpPr>
          <p:cNvPr id="40" name="Shape 38"/>
          <p:cNvSpPr/>
          <p:nvPr/>
        </p:nvSpPr>
        <p:spPr>
          <a:xfrm>
            <a:off x="3547872" y="3406140"/>
            <a:ext cx="64008" cy="64008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41" name="Text 39"/>
          <p:cNvSpPr/>
          <p:nvPr/>
        </p:nvSpPr>
        <p:spPr>
          <a:xfrm>
            <a:off x="3712464" y="3323844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Units Sold per Sale</a:t>
            </a:r>
            <a:endParaRPr lang="en-US" sz="970" dirty="0"/>
          </a:p>
        </p:txBody>
      </p:sp>
      <p:sp>
        <p:nvSpPr>
          <p:cNvPr id="42" name="Shape 40"/>
          <p:cNvSpPr/>
          <p:nvPr/>
        </p:nvSpPr>
        <p:spPr>
          <a:xfrm>
            <a:off x="6126480" y="1691640"/>
            <a:ext cx="2606040" cy="44805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2B2F3A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126480" y="1691640"/>
            <a:ext cx="2606040" cy="502920"/>
          </a:xfrm>
          <a:prstGeom prst="rect">
            <a:avLst/>
          </a:prstGeom>
          <a:solidFill>
            <a:srgbClr val="0B6E66"/>
          </a:solidFill>
          <a:ln/>
        </p:spPr>
      </p:sp>
      <p:sp>
        <p:nvSpPr>
          <p:cNvPr id="44" name="Text 42"/>
          <p:cNvSpPr/>
          <p:nvPr/>
        </p:nvSpPr>
        <p:spPr>
          <a:xfrm>
            <a:off x="6263640" y="16916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Bundling (1)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6291072" y="2404872"/>
            <a:ext cx="64008" cy="64008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46" name="Text 44"/>
          <p:cNvSpPr/>
          <p:nvPr/>
        </p:nvSpPr>
        <p:spPr>
          <a:xfrm>
            <a:off x="6455664" y="2322576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Bundle Price</a:t>
            </a:r>
            <a:endParaRPr lang="en-US" sz="970" dirty="0"/>
          </a:p>
        </p:txBody>
      </p:sp>
      <p:sp>
        <p:nvSpPr>
          <p:cNvPr id="47" name="Shape 45"/>
          <p:cNvSpPr/>
          <p:nvPr/>
        </p:nvSpPr>
        <p:spPr>
          <a:xfrm>
            <a:off x="8869680" y="1691640"/>
            <a:ext cx="2606040" cy="44805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2B2F3A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8869680" y="1691640"/>
            <a:ext cx="2606040" cy="502920"/>
          </a:xfrm>
          <a:prstGeom prst="rect">
            <a:avLst/>
          </a:prstGeom>
          <a:solidFill>
            <a:srgbClr val="0B6E66"/>
          </a:solidFill>
          <a:ln/>
        </p:spPr>
      </p:sp>
      <p:sp>
        <p:nvSpPr>
          <p:cNvPr id="49" name="Text 47"/>
          <p:cNvSpPr/>
          <p:nvPr/>
        </p:nvSpPr>
        <p:spPr>
          <a:xfrm>
            <a:off x="9006840" y="16916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(4)  •  Volume (3)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9034272" y="2404872"/>
            <a:ext cx="64008" cy="64008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51" name="Text 49"/>
          <p:cNvSpPr/>
          <p:nvPr/>
        </p:nvSpPr>
        <p:spPr>
          <a:xfrm>
            <a:off x="9198864" y="2322576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Satisfaction Score</a:t>
            </a:r>
            <a:endParaRPr lang="en-US" sz="970" dirty="0"/>
          </a:p>
        </p:txBody>
      </p:sp>
      <p:sp>
        <p:nvSpPr>
          <p:cNvPr id="52" name="Shape 50"/>
          <p:cNvSpPr/>
          <p:nvPr/>
        </p:nvSpPr>
        <p:spPr>
          <a:xfrm>
            <a:off x="9034272" y="2738628"/>
            <a:ext cx="64008" cy="64008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53" name="Text 51"/>
          <p:cNvSpPr/>
          <p:nvPr/>
        </p:nvSpPr>
        <p:spPr>
          <a:xfrm>
            <a:off x="9198864" y="265633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Detractors (Post-Refund)</a:t>
            </a:r>
            <a:endParaRPr lang="en-US" sz="970" dirty="0"/>
          </a:p>
        </p:txBody>
      </p:sp>
      <p:sp>
        <p:nvSpPr>
          <p:cNvPr id="54" name="Shape 52"/>
          <p:cNvSpPr/>
          <p:nvPr/>
        </p:nvSpPr>
        <p:spPr>
          <a:xfrm>
            <a:off x="9034272" y="3072384"/>
            <a:ext cx="64008" cy="64008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55" name="Text 53"/>
          <p:cNvSpPr/>
          <p:nvPr/>
        </p:nvSpPr>
        <p:spPr>
          <a:xfrm>
            <a:off x="9198864" y="2990088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Subscription Length</a:t>
            </a:r>
            <a:endParaRPr lang="en-US" sz="970" dirty="0"/>
          </a:p>
        </p:txBody>
      </p:sp>
      <p:sp>
        <p:nvSpPr>
          <p:cNvPr id="56" name="Shape 54"/>
          <p:cNvSpPr/>
          <p:nvPr/>
        </p:nvSpPr>
        <p:spPr>
          <a:xfrm>
            <a:off x="9034272" y="3406140"/>
            <a:ext cx="64008" cy="64008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57" name="Text 55"/>
          <p:cNvSpPr/>
          <p:nvPr/>
        </p:nvSpPr>
        <p:spPr>
          <a:xfrm>
            <a:off x="9198864" y="3323844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Customers</a:t>
            </a:r>
            <a:endParaRPr lang="en-US" sz="970" dirty="0"/>
          </a:p>
        </p:txBody>
      </p:sp>
      <p:sp>
        <p:nvSpPr>
          <p:cNvPr id="58" name="Shape 56"/>
          <p:cNvSpPr/>
          <p:nvPr/>
        </p:nvSpPr>
        <p:spPr>
          <a:xfrm>
            <a:off x="9034272" y="3739896"/>
            <a:ext cx="64008" cy="64008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59" name="Text 57"/>
          <p:cNvSpPr/>
          <p:nvPr/>
        </p:nvSpPr>
        <p:spPr>
          <a:xfrm>
            <a:off x="9198864" y="3657600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Campaigns</a:t>
            </a:r>
            <a:endParaRPr lang="en-US" sz="970" dirty="0"/>
          </a:p>
        </p:txBody>
      </p:sp>
      <p:sp>
        <p:nvSpPr>
          <p:cNvPr id="60" name="Shape 58"/>
          <p:cNvSpPr/>
          <p:nvPr/>
        </p:nvSpPr>
        <p:spPr>
          <a:xfrm>
            <a:off x="9034272" y="4073652"/>
            <a:ext cx="64008" cy="64008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61" name="Text 59"/>
          <p:cNvSpPr/>
          <p:nvPr/>
        </p:nvSpPr>
        <p:spPr>
          <a:xfrm>
            <a:off x="9198864" y="3991356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Value Campaigns</a:t>
            </a:r>
            <a:endParaRPr lang="en-US" sz="970" dirty="0"/>
          </a:p>
        </p:txBody>
      </p:sp>
      <p:sp>
        <p:nvSpPr>
          <p:cNvPr id="62" name="Shape 60"/>
          <p:cNvSpPr/>
          <p:nvPr/>
        </p:nvSpPr>
        <p:spPr>
          <a:xfrm>
            <a:off x="9034272" y="4407408"/>
            <a:ext cx="64008" cy="64008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63" name="Text 61"/>
          <p:cNvSpPr/>
          <p:nvPr/>
        </p:nvSpPr>
        <p:spPr>
          <a:xfrm>
            <a:off x="9198864" y="432511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High Value Campaigns</a:t>
            </a:r>
            <a:endParaRPr lang="en-US" sz="970" dirty="0"/>
          </a:p>
        </p:txBody>
      </p:sp>
      <p:sp>
        <p:nvSpPr>
          <p:cNvPr id="64" name="Text 62"/>
          <p:cNvSpPr/>
          <p:nvPr/>
        </p:nvSpPr>
        <p:spPr>
          <a:xfrm>
            <a:off x="640080" y="6309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measure lives in the Power BI “KPIs” table, built on the Fact_Campaign_Performance and Dim_ tables shown on the previous slide.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1 — MARKETING &amp; CAMPAIGN PERFORMANCE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6E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Our Marketing Spend Actually Paying Off?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1208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2B2F3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830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revenue per campaign, by budget tier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77240" y="2148840"/>
          <a:ext cx="49377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035040" y="1600200"/>
            <a:ext cx="544068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2B2F3A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263640" y="17830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Campaigns by ROI tier</a:t>
            </a:r>
            <a:endParaRPr lang="en-US" sz="12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6172200" y="2103120"/>
          <a:ext cx="301752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Shape 6"/>
          <p:cNvSpPr/>
          <p:nvPr/>
        </p:nvSpPr>
        <p:spPr>
          <a:xfrm>
            <a:off x="9372600" y="233172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1B8A5A"/>
          </a:solidFill>
          <a:ln/>
        </p:spPr>
      </p:sp>
      <p:sp>
        <p:nvSpPr>
          <p:cNvPr id="11" name="Text 7"/>
          <p:cNvSpPr/>
          <p:nvPr/>
        </p:nvSpPr>
        <p:spPr>
          <a:xfrm>
            <a:off x="9646920" y="22585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High-performing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9646920" y="2514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44.3%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9372600" y="301752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4FA87A"/>
          </a:solidFill>
          <a:ln/>
        </p:spPr>
      </p:sp>
      <p:sp>
        <p:nvSpPr>
          <p:cNvPr id="14" name="Text 10"/>
          <p:cNvSpPr/>
          <p:nvPr/>
        </p:nvSpPr>
        <p:spPr>
          <a:xfrm>
            <a:off x="9646920" y="29443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Profitable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9646920" y="3200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44.2%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9372600" y="370332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FF7A59"/>
          </a:solidFill>
          <a:ln/>
        </p:spPr>
      </p:sp>
      <p:sp>
        <p:nvSpPr>
          <p:cNvPr id="17" name="Text 13"/>
          <p:cNvSpPr/>
          <p:nvPr/>
        </p:nvSpPr>
        <p:spPr>
          <a:xfrm>
            <a:off x="9646920" y="36301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Underperforming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9646920" y="3886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11.2%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9372600" y="438912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C43D3D"/>
          </a:solidFill>
          <a:ln/>
        </p:spPr>
      </p:sp>
      <p:sp>
        <p:nvSpPr>
          <p:cNvPr id="20" name="Text 16"/>
          <p:cNvSpPr/>
          <p:nvPr/>
        </p:nvSpPr>
        <p:spPr>
          <a:xfrm>
            <a:off x="9646920" y="43159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Loss-making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9646920" y="4572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0.3%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640080" y="5897880"/>
            <a:ext cx="10835640" cy="713232"/>
          </a:xfrm>
          <a:prstGeom prst="roundRect">
            <a:avLst>
              <a:gd name="adj" fmla="val 10256"/>
            </a:avLst>
          </a:prstGeom>
          <a:solidFill>
            <a:srgbClr val="E7F5F2"/>
          </a:solidFill>
          <a:ln w="12700">
            <a:solidFill>
              <a:srgbClr val="E7F5F2"/>
            </a:solidFill>
            <a:prstDash val="solid"/>
          </a:ln>
          <a:effectLst>
            <a:outerShdw sx="100000" sy="100000" kx="0" ky="0" algn="bl" rotWithShape="0" blurRad="101600" dist="38100" dir="5400000">
              <a:srgbClr val="2B2F3A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822960" y="6044184"/>
            <a:ext cx="420624" cy="420624"/>
          </a:xfrm>
          <a:prstGeom prst="ellipse">
            <a:avLst/>
          </a:prstGeom>
          <a:solidFill>
            <a:srgbClr val="FF7A59"/>
          </a:solidFill>
          <a:ln/>
        </p:spPr>
      </p:sp>
      <p:pic>
        <p:nvPicPr>
          <p:cNvPr id="24" name="Image 0" descr="/home/claude/ppt/icons/lightbulb_1E276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435" y="6094659"/>
            <a:ext cx="319674" cy="31967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417320" y="5897880"/>
            <a:ext cx="9875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size shows no relationship with revenue — the smallest campaigns perform as well as the largest.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1 — MARKETING &amp; CAMPAIGN PERFORMANCE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6E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Is Spend Efficient — and Where Is It Bleeding?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1208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2B2F3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830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conversion, by subscription tier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77240" y="2148840"/>
          <a:ext cx="49377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035040" y="1600200"/>
            <a:ext cx="544068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2B2F3A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263640" y="17830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Worst-performing campaigns by ROI</a:t>
            </a:r>
            <a:endParaRPr lang="en-US" sz="12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6263640" y="2148840"/>
          <a:ext cx="507492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Shape 6"/>
          <p:cNvSpPr/>
          <p:nvPr/>
        </p:nvSpPr>
        <p:spPr>
          <a:xfrm>
            <a:off x="640080" y="5897880"/>
            <a:ext cx="10835640" cy="713232"/>
          </a:xfrm>
          <a:prstGeom prst="roundRect">
            <a:avLst>
              <a:gd name="adj" fmla="val 10256"/>
            </a:avLst>
          </a:prstGeom>
          <a:solidFill>
            <a:srgbClr val="E7F5F2"/>
          </a:solidFill>
          <a:ln w="12700">
            <a:solidFill>
              <a:srgbClr val="E7F5F2"/>
            </a:solidFill>
            <a:prstDash val="solid"/>
          </a:ln>
          <a:effectLst>
            <a:outerShdw sx="100000" sy="100000" kx="0" ky="0" algn="bl" rotWithShape="0" blurRad="101600" dist="38100" dir="5400000">
              <a:srgbClr val="2B2F3A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822960" y="6044184"/>
            <a:ext cx="420624" cy="420624"/>
          </a:xfrm>
          <a:prstGeom prst="ellipse">
            <a:avLst/>
          </a:prstGeom>
          <a:solidFill>
            <a:srgbClr val="FF7A59"/>
          </a:solidFill>
          <a:ln/>
        </p:spPr>
      </p:sp>
      <p:pic>
        <p:nvPicPr>
          <p:cNvPr id="12" name="Image 0" descr="/home/claude/ppt/icons/lightbulb_1E276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435" y="6094659"/>
            <a:ext cx="319674" cy="31967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5897880"/>
            <a:ext cx="9875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efficiency is flat across customer tiers; a small, identifiable set of campaigns drives nearly all of the loss.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1 — MARKETING &amp; CAMPAIGN PERFORMANCE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6E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Bigger Budgets Win a Better ROI Tier?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Cross-tabbing budget tier against ROI outcome confirms the pattern at a segment level, not just on average.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083564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2B2F3A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194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campaigns by ROI tier, within each budget tier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498080" y="2212848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1B8A5A"/>
          </a:solidFill>
          <a:ln/>
        </p:spPr>
      </p:sp>
      <p:sp>
        <p:nvSpPr>
          <p:cNvPr id="8" name="Text 6"/>
          <p:cNvSpPr/>
          <p:nvPr/>
        </p:nvSpPr>
        <p:spPr>
          <a:xfrm>
            <a:off x="7717536" y="21579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High-performing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458200" y="2212848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4FA87A"/>
          </a:solidFill>
          <a:ln/>
        </p:spPr>
      </p:sp>
      <p:sp>
        <p:nvSpPr>
          <p:cNvPr id="10" name="Text 8"/>
          <p:cNvSpPr/>
          <p:nvPr/>
        </p:nvSpPr>
        <p:spPr>
          <a:xfrm>
            <a:off x="8677656" y="21579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Profitable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418320" y="2212848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FF7A59"/>
          </a:solidFill>
          <a:ln/>
        </p:spPr>
      </p:sp>
      <p:sp>
        <p:nvSpPr>
          <p:cNvPr id="12" name="Text 10"/>
          <p:cNvSpPr/>
          <p:nvPr/>
        </p:nvSpPr>
        <p:spPr>
          <a:xfrm>
            <a:off x="9637776" y="21579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Underperforming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378440" y="2212848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C43D3D"/>
          </a:solidFill>
          <a:ln/>
        </p:spPr>
      </p:sp>
      <p:sp>
        <p:nvSpPr>
          <p:cNvPr id="14" name="Text 12"/>
          <p:cNvSpPr/>
          <p:nvPr/>
        </p:nvSpPr>
        <p:spPr>
          <a:xfrm>
            <a:off x="10597896" y="21579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Loss-making</a:t>
            </a:r>
            <a:endParaRPr lang="en-US" sz="85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822960" y="2606040"/>
          <a:ext cx="1037844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Shape 13"/>
          <p:cNvSpPr/>
          <p:nvPr/>
        </p:nvSpPr>
        <p:spPr>
          <a:xfrm>
            <a:off x="640080" y="5897880"/>
            <a:ext cx="10835640" cy="621792"/>
          </a:xfrm>
          <a:prstGeom prst="roundRect">
            <a:avLst>
              <a:gd name="adj" fmla="val 11765"/>
            </a:avLst>
          </a:prstGeom>
          <a:solidFill>
            <a:srgbClr val="E7F5F2"/>
          </a:solidFill>
          <a:ln w="12700">
            <a:solidFill>
              <a:srgbClr val="E7F5F2"/>
            </a:solidFill>
            <a:prstDash val="solid"/>
          </a:ln>
          <a:effectLst>
            <a:outerShdw sx="100000" sy="100000" kx="0" ky="0" algn="bl" rotWithShape="0" blurRad="101600" dist="38100" dir="5400000">
              <a:srgbClr val="2B2F3A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22960" y="5998464"/>
            <a:ext cx="420624" cy="420624"/>
          </a:xfrm>
          <a:prstGeom prst="ellipse">
            <a:avLst/>
          </a:prstGeom>
          <a:solidFill>
            <a:srgbClr val="FF7A59"/>
          </a:solidFill>
          <a:ln/>
        </p:spPr>
      </p:sp>
      <p:pic>
        <p:nvPicPr>
          <p:cNvPr id="18" name="Image 0" descr="/home/claude/ppt/icons/lightbulb_1E276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435" y="6048939"/>
            <a:ext cx="319674" cy="31967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417320" y="5897880"/>
            <a:ext cx="9875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bar looks nearly identical — a Q1 (smallest-budget) campaign has about the same odds of landing “high-performing” as a Q4 campaign.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2 — DISCOUNTS, BUNDLES &amp; CUSTOMER HEALTH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6E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 Deeper Discounts Actually Working?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1208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2B2F3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830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units sold, by discount band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77240" y="2148840"/>
          <a:ext cx="49377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035040" y="1600200"/>
            <a:ext cx="544068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2B2F3A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263640" y="17830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post-refund satisfaction, by discount band</a:t>
            </a:r>
            <a:endParaRPr lang="en-US" sz="12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6263640" y="2148840"/>
          <a:ext cx="507492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/>
          <p:nvPr/>
        </p:nvSpPr>
        <p:spPr>
          <a:xfrm>
            <a:off x="6263640" y="55321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*80-100% band has only 6 records — directional only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640080" y="5897880"/>
            <a:ext cx="10835640" cy="713232"/>
          </a:xfrm>
          <a:prstGeom prst="roundRect">
            <a:avLst>
              <a:gd name="adj" fmla="val 10256"/>
            </a:avLst>
          </a:prstGeom>
          <a:solidFill>
            <a:srgbClr val="E7F5F2"/>
          </a:solidFill>
          <a:ln w="12700">
            <a:solidFill>
              <a:srgbClr val="E7F5F2"/>
            </a:solidFill>
            <a:prstDash val="solid"/>
          </a:ln>
          <a:effectLst>
            <a:outerShdw sx="100000" sy="100000" kx="0" ky="0" algn="bl" rotWithShape="0" blurRad="101600" dist="38100" dir="5400000">
              <a:srgbClr val="2B2F3A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822960" y="6044184"/>
            <a:ext cx="420624" cy="420624"/>
          </a:xfrm>
          <a:prstGeom prst="ellipse">
            <a:avLst/>
          </a:prstGeom>
          <a:solidFill>
            <a:srgbClr val="FF7A59"/>
          </a:solidFill>
          <a:ln/>
        </p:spPr>
      </p:sp>
      <p:pic>
        <p:nvPicPr>
          <p:cNvPr id="13" name="Image 0" descr="/home/claude/ppt/icons/lightbulb_1E276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435" y="6094659"/>
            <a:ext cx="319674" cy="31967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5897880"/>
            <a:ext cx="9875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units sold nor satisfaction improves with deeper discounts — discounting mainly costs margin.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2 — DISCOUNTS, BUNDLES &amp; CUSTOMER HEALTH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6E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 Loyalty Is Flat. Post-Refund Sentiment Is Split.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1208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2B2F3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830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tier: revenue vs. satisfaction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77240" y="2148840"/>
          <a:ext cx="4937760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777240" y="3886200"/>
          <a:ext cx="493776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6035040" y="1600200"/>
            <a:ext cx="544068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2B2F3A">
                <a:alpha val="1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6263640" y="17830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Post-refund satisfaction segment</a:t>
            </a:r>
            <a:endParaRPr lang="en-US" sz="1200" dirty="0"/>
          </a:p>
        </p:txBody>
      </p:sp>
      <p:graphicFrame>
        <p:nvGraphicFramePr>
          <p:cNvPr id="10" name="Chart 2" descr=""/>
          <p:cNvGraphicFramePr/>
          <p:nvPr/>
        </p:nvGraphicFramePr>
        <p:xfrm>
          <a:off x="6675120" y="2286000"/>
          <a:ext cx="28346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 6"/>
          <p:cNvSpPr/>
          <p:nvPr/>
        </p:nvSpPr>
        <p:spPr>
          <a:xfrm>
            <a:off x="6675120" y="340156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43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50.4%</a:t>
            </a:r>
            <a:endParaRPr lang="en-US" sz="2800" dirty="0"/>
          </a:p>
        </p:txBody>
      </p:sp>
      <p:sp>
        <p:nvSpPr>
          <p:cNvPr id="12" name="Text 7"/>
          <p:cNvSpPr/>
          <p:nvPr/>
        </p:nvSpPr>
        <p:spPr>
          <a:xfrm>
            <a:off x="6675120" y="391363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Detractors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6903720" y="548640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C43D3D"/>
          </a:solidFill>
          <a:ln/>
        </p:spPr>
      </p:sp>
      <p:sp>
        <p:nvSpPr>
          <p:cNvPr id="14" name="Text 9"/>
          <p:cNvSpPr/>
          <p:nvPr/>
        </p:nvSpPr>
        <p:spPr>
          <a:xfrm>
            <a:off x="7150608" y="54132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Detractor (1-2)  50.4%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9189720" y="548640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1B8A5A"/>
          </a:solidFill>
          <a:ln/>
        </p:spPr>
      </p:sp>
      <p:sp>
        <p:nvSpPr>
          <p:cNvPr id="16" name="Text 11"/>
          <p:cNvSpPr/>
          <p:nvPr/>
        </p:nvSpPr>
        <p:spPr>
          <a:xfrm>
            <a:off x="9436608" y="54132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Promoter (3-4)  49.6%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640080" y="5989320"/>
            <a:ext cx="10835640" cy="621792"/>
          </a:xfrm>
          <a:prstGeom prst="roundRect">
            <a:avLst>
              <a:gd name="adj" fmla="val 11765"/>
            </a:avLst>
          </a:prstGeom>
          <a:solidFill>
            <a:srgbClr val="E7F5F2"/>
          </a:solidFill>
          <a:ln w="12700">
            <a:solidFill>
              <a:srgbClr val="E7F5F2"/>
            </a:solidFill>
            <a:prstDash val="solid"/>
          </a:ln>
          <a:effectLst>
            <a:outerShdw sx="100000" sy="100000" kx="0" ky="0" algn="bl" rotWithShape="0" blurRad="101600" dist="38100" dir="5400000">
              <a:srgbClr val="2B2F3A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22960" y="6089904"/>
            <a:ext cx="384048" cy="384048"/>
          </a:xfrm>
          <a:prstGeom prst="ellipse">
            <a:avLst/>
          </a:prstGeom>
          <a:solidFill>
            <a:srgbClr val="C43D3D"/>
          </a:solidFill>
          <a:ln/>
        </p:spPr>
      </p:sp>
      <p:pic>
        <p:nvPicPr>
          <p:cNvPr id="19" name="Image 0" descr="/home/claude/ppt/icons/alert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046" y="6135990"/>
            <a:ext cx="291876" cy="2918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71600" y="5989320"/>
            <a:ext cx="9966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of post-refund customers are Detractors, regardless of tier — the single highest-leverage fix in this dataset.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2 — DISCOUNTS, BUNDLES &amp; CUSTOMER HEALTH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6E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Marketing Keyword Actually Drives Revenue?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product carries one of four marketing keywords. Comparing total revenue by keyword tests whether positioning language moves the needle.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083564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2B2F3A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194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by product keyword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1280160" y="2606040"/>
          <a:ext cx="960120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5897880"/>
            <a:ext cx="10835640" cy="621792"/>
          </a:xfrm>
          <a:prstGeom prst="roundRect">
            <a:avLst>
              <a:gd name="adj" fmla="val 11765"/>
            </a:avLst>
          </a:prstGeom>
          <a:solidFill>
            <a:srgbClr val="E7F5F2"/>
          </a:solidFill>
          <a:ln w="12700">
            <a:solidFill>
              <a:srgbClr val="E7F5F2"/>
            </a:solidFill>
            <a:prstDash val="solid"/>
          </a:ln>
          <a:effectLst>
            <a:outerShdw sx="100000" sy="100000" kx="0" ky="0" algn="bl" rotWithShape="0" blurRad="101600" dist="38100" dir="5400000">
              <a:srgbClr val="2B2F3A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22960" y="5998464"/>
            <a:ext cx="420624" cy="420624"/>
          </a:xfrm>
          <a:prstGeom prst="ellipse">
            <a:avLst/>
          </a:prstGeom>
          <a:solidFill>
            <a:srgbClr val="FF7A59"/>
          </a:solidFill>
          <a:ln/>
        </p:spPr>
      </p:sp>
      <p:pic>
        <p:nvPicPr>
          <p:cNvPr id="10" name="Image 0" descr="/home/claude/ppt/icons/lightbulb_1E276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435" y="6048939"/>
            <a:ext cx="319674" cy="31967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5897880"/>
            <a:ext cx="9875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“Affordable” and “Innovative” lead narrowly, but the gap across all four keywords is modest — no single keyword is a breakout revenue driver.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6E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Priorities, Ranked by Business Impact (1 of 2)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35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2B2F3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57400"/>
            <a:ext cx="685800" cy="685800"/>
          </a:xfrm>
          <a:prstGeom prst="ellipse">
            <a:avLst/>
          </a:prstGeom>
          <a:solidFill>
            <a:srgbClr val="0B6E6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57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828800" y="1892808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C43D3D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0" y="189280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IMPACT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0" y="1837944"/>
            <a:ext cx="7635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spend isn't reliably driving revenue or ROI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828800" y="2313432"/>
            <a:ext cx="9464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a test-and-learn budget framework; pause the bottom-ROI decile and reallocate to the top quartile.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3246120"/>
            <a:ext cx="10835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2B2F3A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68680" y="3611880"/>
            <a:ext cx="685800" cy="685800"/>
          </a:xfrm>
          <a:prstGeom prst="ellipse">
            <a:avLst/>
          </a:prstGeom>
          <a:solidFill>
            <a:srgbClr val="0B6E66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6118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1828800" y="3447288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C43D3D"/>
          </a:solidFill>
          <a:ln/>
        </p:spPr>
      </p:sp>
      <p:sp>
        <p:nvSpPr>
          <p:cNvPr id="15" name="Text 13"/>
          <p:cNvSpPr/>
          <p:nvPr/>
        </p:nvSpPr>
        <p:spPr>
          <a:xfrm>
            <a:off x="1828800" y="344728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IMPACT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0" y="3392424"/>
            <a:ext cx="7635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Discounting isn't earning incremental volume or satisfaction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828800" y="3867912"/>
            <a:ext cx="9464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controlled discount-depth test; default flash sales to a moderate band until causality is proven.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4800600"/>
            <a:ext cx="10835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2B2F3A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68680" y="5166360"/>
            <a:ext cx="685800" cy="685800"/>
          </a:xfrm>
          <a:prstGeom prst="ellipse">
            <a:avLst/>
          </a:prstGeom>
          <a:solidFill>
            <a:srgbClr val="0B6E66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5166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1828800" y="5001768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FF7A59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0" y="500176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MED-HIGH IMPACT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57600" y="4946904"/>
            <a:ext cx="7635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measurement and tracking integrity needs an audit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828800" y="5422392"/>
            <a:ext cx="9464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the Conversions-vs-Clicks mismatch and add automated validation at the point of ingestion.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6E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Priorities, Ranked by Business Impact (2 of 2)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35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2B2F3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57400"/>
            <a:ext cx="685800" cy="685800"/>
          </a:xfrm>
          <a:prstGeom prst="ellipse">
            <a:avLst/>
          </a:prstGeom>
          <a:solidFill>
            <a:srgbClr val="0B6E6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57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828800" y="1892808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FF7A59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0" y="189280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IMPACT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0" y="1837944"/>
            <a:ext cx="7635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subscribers aren't outperforming lower tiers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828800" y="2313432"/>
            <a:ext cx="9464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Reassess Premium pricing and packaging; segment further to check for a hidden high-value sub-group.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3246120"/>
            <a:ext cx="10835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2B2F3A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68680" y="3611880"/>
            <a:ext cx="685800" cy="685800"/>
          </a:xfrm>
          <a:prstGeom prst="ellipse">
            <a:avLst/>
          </a:prstGeom>
          <a:solidFill>
            <a:srgbClr val="0B6E66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6118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1828800" y="3447288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FF7A59"/>
          </a:solidFill>
          <a:ln/>
        </p:spPr>
      </p:sp>
      <p:sp>
        <p:nvSpPr>
          <p:cNvPr id="15" name="Text 13"/>
          <p:cNvSpPr/>
          <p:nvPr/>
        </p:nvSpPr>
        <p:spPr>
          <a:xfrm>
            <a:off x="1828800" y="344728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IMPACT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0" y="3392424"/>
            <a:ext cx="7635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Post-refund satisfaction skews low for half of customers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828800" y="3867912"/>
            <a:ext cx="9464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the refund moment as service recovery; set up closed-loop follow-up for low scorers.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4709160"/>
            <a:ext cx="10835640" cy="1417320"/>
          </a:xfrm>
          <a:prstGeom prst="roundRect">
            <a:avLst>
              <a:gd name="adj" fmla="val 5161"/>
            </a:avLst>
          </a:prstGeom>
          <a:solidFill>
            <a:srgbClr val="E7F5F2"/>
          </a:solidFill>
          <a:ln w="12700">
            <a:solidFill>
              <a:srgbClr val="E7F5F2"/>
            </a:solidFill>
            <a:prstDash val="solid"/>
          </a:ln>
          <a:effectLst>
            <a:outerShdw sx="100000" sy="100000" kx="0" ky="0" algn="bl" rotWithShape="0" blurRad="101600" dist="38100" dir="5400000">
              <a:srgbClr val="2B2F3A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68680" y="4937760"/>
            <a:ext cx="457200" cy="457200"/>
          </a:xfrm>
          <a:prstGeom prst="ellipse">
            <a:avLst/>
          </a:prstGeom>
          <a:solidFill>
            <a:srgbClr val="0B6E66"/>
          </a:solidFill>
          <a:ln/>
        </p:spPr>
      </p:sp>
      <p:pic>
        <p:nvPicPr>
          <p:cNvPr id="20" name="Image 0" descr="/home/claude/ppt/icons/scal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4992624"/>
            <a:ext cx="347472" cy="34747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508760" y="491947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note on limitations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508760" y="5230368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findings are correlational, not causal, and the data has no time dimension — the flat relationships found are real, but should be validated with controlled experiments before large budget shifts.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6E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377440"/>
            <a:ext cx="5486400" cy="5486400"/>
          </a:xfrm>
          <a:prstGeom prst="ellipse">
            <a:avLst/>
          </a:prstGeom>
          <a:solidFill>
            <a:srgbClr val="073430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4206240"/>
            <a:ext cx="4206240" cy="4206240"/>
          </a:xfrm>
          <a:prstGeom prst="ellipse">
            <a:avLst/>
          </a:prstGeom>
          <a:solidFill>
            <a:srgbClr val="07343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Correlation Into Confident Decisions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2514600" cy="2834640"/>
          </a:xfrm>
          <a:prstGeom prst="roundRect">
            <a:avLst>
              <a:gd name="adj" fmla="val 2909"/>
            </a:avLst>
          </a:prstGeom>
          <a:solidFill>
            <a:srgbClr val="073430"/>
          </a:solidFill>
          <a:ln/>
        </p:spPr>
      </p:sp>
      <p:sp>
        <p:nvSpPr>
          <p:cNvPr id="7" name="Shape 5"/>
          <p:cNvSpPr/>
          <p:nvPr/>
        </p:nvSpPr>
        <p:spPr>
          <a:xfrm>
            <a:off x="1613916" y="2258568"/>
            <a:ext cx="566928" cy="566928"/>
          </a:xfrm>
          <a:prstGeom prst="ellipse">
            <a:avLst/>
          </a:prstGeom>
          <a:solidFill>
            <a:srgbClr val="FF7A59"/>
          </a:solidFill>
          <a:ln/>
        </p:spPr>
      </p:sp>
      <p:pic>
        <p:nvPicPr>
          <p:cNvPr id="8" name="Image 0" descr="/home/claude/ppt/icons/database_1E27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1947" y="2326599"/>
            <a:ext cx="430865" cy="43086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30632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timestamps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365760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every campaign, flash sale, and refund event for trend and cohort analysis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337560" y="1965960"/>
            <a:ext cx="2514600" cy="2834640"/>
          </a:xfrm>
          <a:prstGeom prst="roundRect">
            <a:avLst>
              <a:gd name="adj" fmla="val 2909"/>
            </a:avLst>
          </a:prstGeom>
          <a:solidFill>
            <a:srgbClr val="073430"/>
          </a:solidFill>
          <a:ln/>
        </p:spPr>
      </p:sp>
      <p:sp>
        <p:nvSpPr>
          <p:cNvPr id="12" name="Shape 9"/>
          <p:cNvSpPr/>
          <p:nvPr/>
        </p:nvSpPr>
        <p:spPr>
          <a:xfrm>
            <a:off x="4311396" y="2258568"/>
            <a:ext cx="566928" cy="566928"/>
          </a:xfrm>
          <a:prstGeom prst="ellipse">
            <a:avLst/>
          </a:prstGeom>
          <a:solidFill>
            <a:srgbClr val="FF7A59"/>
          </a:solidFill>
          <a:ln/>
        </p:spPr>
      </p:sp>
      <p:pic>
        <p:nvPicPr>
          <p:cNvPr id="13" name="Image 1" descr="/home/claude/ppt/icons/searchcheck_1E276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427" y="2326599"/>
            <a:ext cx="430865" cy="43086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74720" y="30632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event-level tracking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520440" y="365760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granular click and conversion logs to resolve the integrity gap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035040" y="1965960"/>
            <a:ext cx="2514600" cy="2834640"/>
          </a:xfrm>
          <a:prstGeom prst="roundRect">
            <a:avLst>
              <a:gd name="adj" fmla="val 2909"/>
            </a:avLst>
          </a:prstGeom>
          <a:solidFill>
            <a:srgbClr val="073430"/>
          </a:solidFill>
          <a:ln/>
        </p:spPr>
      </p:sp>
      <p:sp>
        <p:nvSpPr>
          <p:cNvPr id="17" name="Shape 13"/>
          <p:cNvSpPr/>
          <p:nvPr/>
        </p:nvSpPr>
        <p:spPr>
          <a:xfrm>
            <a:off x="7008876" y="2258568"/>
            <a:ext cx="566928" cy="566928"/>
          </a:xfrm>
          <a:prstGeom prst="ellipse">
            <a:avLst/>
          </a:prstGeom>
          <a:solidFill>
            <a:srgbClr val="FF7A59"/>
          </a:solidFill>
          <a:ln/>
        </p:spPr>
      </p:sp>
      <p:pic>
        <p:nvPicPr>
          <p:cNvPr id="18" name="Image 2" descr="/home/claude/ppt/icons/users_1E276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6907" y="2326599"/>
            <a:ext cx="430865" cy="43086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72200" y="30632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customer history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217920" y="365760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campaigns and purchases per customer over time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8732520" y="1965960"/>
            <a:ext cx="2514600" cy="2834640"/>
          </a:xfrm>
          <a:prstGeom prst="roundRect">
            <a:avLst>
              <a:gd name="adj" fmla="val 2909"/>
            </a:avLst>
          </a:prstGeom>
          <a:solidFill>
            <a:srgbClr val="073430"/>
          </a:solidFill>
          <a:ln/>
        </p:spPr>
      </p:sp>
      <p:sp>
        <p:nvSpPr>
          <p:cNvPr id="22" name="Shape 17"/>
          <p:cNvSpPr/>
          <p:nvPr/>
        </p:nvSpPr>
        <p:spPr>
          <a:xfrm>
            <a:off x="9706356" y="2258568"/>
            <a:ext cx="566928" cy="566928"/>
          </a:xfrm>
          <a:prstGeom prst="ellipse">
            <a:avLst/>
          </a:prstGeom>
          <a:solidFill>
            <a:srgbClr val="FF7A59"/>
          </a:solidFill>
          <a:ln/>
        </p:spPr>
      </p:sp>
      <p:pic>
        <p:nvPicPr>
          <p:cNvPr id="23" name="Image 3" descr="/home/claude/ppt/icons/flask_1E276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4387" y="2326599"/>
            <a:ext cx="430865" cy="43086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869680" y="30632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controlled experiments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8915400" y="365760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Discount-depth and budget tests to prove causality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640080" y="52578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27" name="Text 21"/>
          <p:cNvSpPr/>
          <p:nvPr/>
        </p:nvSpPr>
        <p:spPr>
          <a:xfrm>
            <a:off x="640080" y="5806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Team  •  Questions welcome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2026-08-01T15:58:32Z</dcterms:created>
  <dcterms:modified xsi:type="dcterms:W3CDTF">2026-08-01T15:58:32Z</dcterms:modified>
</cp:coreProperties>
</file>